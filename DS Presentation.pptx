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60" r:id="rId5"/>
    <p:sldId id="267" r:id="rId6"/>
    <p:sldId id="269" r:id="rId7"/>
    <p:sldId id="270" r:id="rId8"/>
    <p:sldId id="268" r:id="rId9"/>
    <p:sldId id="259" r:id="rId10"/>
    <p:sldId id="266" r:id="rId11"/>
    <p:sldId id="261" r:id="rId12"/>
    <p:sldId id="262" r:id="rId13"/>
    <p:sldId id="263" r:id="rId14"/>
    <p:sldId id="264" r:id="rId15"/>
    <p:sldId id="26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216FD2-EC2A-9340-B818-FF8461112322}" v="14" dt="2026-05-04T11:44:36.1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755"/>
    <p:restoredTop sz="77047"/>
  </p:normalViewPr>
  <p:slideViewPr>
    <p:cSldViewPr snapToGrid="0">
      <p:cViewPr varScale="1">
        <p:scale>
          <a:sx n="90" d="100"/>
          <a:sy n="90" d="100"/>
        </p:scale>
        <p:origin x="1696" y="184"/>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 COLES (DBT)" userId="14a9291c-d52a-4ca5-9e26-7af7f9fe396b" providerId="ADAL" clId="{60918526-AEE6-524F-84C0-CE9691A1D59D}"/>
    <pc:docChg chg="custSel modSld">
      <pc:chgData name="Daniel COLES (DBT)" userId="14a9291c-d52a-4ca5-9e26-7af7f9fe396b" providerId="ADAL" clId="{60918526-AEE6-524F-84C0-CE9691A1D59D}" dt="2026-05-04T12:35:50.906" v="237" actId="20577"/>
      <pc:docMkLst>
        <pc:docMk/>
      </pc:docMkLst>
      <pc:sldChg chg="modSp mod">
        <pc:chgData name="Daniel COLES (DBT)" userId="14a9291c-d52a-4ca5-9e26-7af7f9fe396b" providerId="ADAL" clId="{60918526-AEE6-524F-84C0-CE9691A1D59D}" dt="2026-05-04T12:35:50.906" v="237" actId="20577"/>
        <pc:sldMkLst>
          <pc:docMk/>
          <pc:sldMk cId="3038272275" sldId="257"/>
        </pc:sldMkLst>
        <pc:spChg chg="mod">
          <ac:chgData name="Daniel COLES (DBT)" userId="14a9291c-d52a-4ca5-9e26-7af7f9fe396b" providerId="ADAL" clId="{60918526-AEE6-524F-84C0-CE9691A1D59D}" dt="2026-05-04T12:35:50.906" v="237" actId="20577"/>
          <ac:spMkLst>
            <pc:docMk/>
            <pc:sldMk cId="3038272275" sldId="257"/>
            <ac:spMk id="5" creationId="{B015ACA7-42B5-1671-480A-D8E101FF5195}"/>
          </ac:spMkLst>
        </pc:spChg>
      </pc:sldChg>
      <pc:sldChg chg="addSp modSp mod">
        <pc:chgData name="Daniel COLES (DBT)" userId="14a9291c-d52a-4ca5-9e26-7af7f9fe396b" providerId="ADAL" clId="{60918526-AEE6-524F-84C0-CE9691A1D59D}" dt="2026-05-04T11:42:53.196" v="133" actId="20577"/>
        <pc:sldMkLst>
          <pc:docMk/>
          <pc:sldMk cId="1534446044" sldId="260"/>
        </pc:sldMkLst>
        <pc:spChg chg="add mod">
          <ac:chgData name="Daniel COLES (DBT)" userId="14a9291c-d52a-4ca5-9e26-7af7f9fe396b" providerId="ADAL" clId="{60918526-AEE6-524F-84C0-CE9691A1D59D}" dt="2026-05-04T11:40:48.406" v="21" actId="1076"/>
          <ac:spMkLst>
            <pc:docMk/>
            <pc:sldMk cId="1534446044" sldId="260"/>
            <ac:spMk id="3" creationId="{652CFC02-726D-C89E-A7ED-B05CC52C4F46}"/>
          </ac:spMkLst>
        </pc:spChg>
        <pc:spChg chg="add mod">
          <ac:chgData name="Daniel COLES (DBT)" userId="14a9291c-d52a-4ca5-9e26-7af7f9fe396b" providerId="ADAL" clId="{60918526-AEE6-524F-84C0-CE9691A1D59D}" dt="2026-05-04T11:40:57.764" v="30" actId="20577"/>
          <ac:spMkLst>
            <pc:docMk/>
            <pc:sldMk cId="1534446044" sldId="260"/>
            <ac:spMk id="4" creationId="{4F574AF0-04AC-52F7-A7B9-3489EB8D9BF4}"/>
          </ac:spMkLst>
        </pc:spChg>
        <pc:spChg chg="mod">
          <ac:chgData name="Daniel COLES (DBT)" userId="14a9291c-d52a-4ca5-9e26-7af7f9fe396b" providerId="ADAL" clId="{60918526-AEE6-524F-84C0-CE9691A1D59D}" dt="2026-05-04T11:42:53.196" v="133" actId="20577"/>
          <ac:spMkLst>
            <pc:docMk/>
            <pc:sldMk cId="1534446044" sldId="260"/>
            <ac:spMk id="7" creationId="{E1AAE8BD-5A12-FF41-E7C8-44EB25BBB878}"/>
          </ac:spMkLst>
        </pc:spChg>
      </pc:sldChg>
      <pc:sldChg chg="addSp modSp mod">
        <pc:chgData name="Daniel COLES (DBT)" userId="14a9291c-d52a-4ca5-9e26-7af7f9fe396b" providerId="ADAL" clId="{60918526-AEE6-524F-84C0-CE9691A1D59D}" dt="2026-05-04T11:42:56.908" v="135" actId="20577"/>
        <pc:sldMkLst>
          <pc:docMk/>
          <pc:sldMk cId="1744824476" sldId="267"/>
        </pc:sldMkLst>
        <pc:spChg chg="add mod">
          <ac:chgData name="Daniel COLES (DBT)" userId="14a9291c-d52a-4ca5-9e26-7af7f9fe396b" providerId="ADAL" clId="{60918526-AEE6-524F-84C0-CE9691A1D59D}" dt="2026-05-04T11:41:55.738" v="63" actId="1076"/>
          <ac:spMkLst>
            <pc:docMk/>
            <pc:sldMk cId="1744824476" sldId="267"/>
            <ac:spMk id="4" creationId="{A52ADAB7-E02B-1DE6-58B6-FDFC1C73B594}"/>
          </ac:spMkLst>
        </pc:spChg>
        <pc:spChg chg="add mod">
          <ac:chgData name="Daniel COLES (DBT)" userId="14a9291c-d52a-4ca5-9e26-7af7f9fe396b" providerId="ADAL" clId="{60918526-AEE6-524F-84C0-CE9691A1D59D}" dt="2026-05-04T11:42:05.759" v="75" actId="20577"/>
          <ac:spMkLst>
            <pc:docMk/>
            <pc:sldMk cId="1744824476" sldId="267"/>
            <ac:spMk id="5" creationId="{FECB39A7-E23F-24A4-0E38-81C1B30BFA57}"/>
          </ac:spMkLst>
        </pc:spChg>
        <pc:spChg chg="mod">
          <ac:chgData name="Daniel COLES (DBT)" userId="14a9291c-d52a-4ca5-9e26-7af7f9fe396b" providerId="ADAL" clId="{60918526-AEE6-524F-84C0-CE9691A1D59D}" dt="2026-05-04T11:42:56.908" v="135" actId="20577"/>
          <ac:spMkLst>
            <pc:docMk/>
            <pc:sldMk cId="1744824476" sldId="267"/>
            <ac:spMk id="7" creationId="{9655FBBA-4E85-CF64-06BD-119C998834EC}"/>
          </ac:spMkLst>
        </pc:spChg>
      </pc:sldChg>
      <pc:sldChg chg="addSp delSp modSp mod">
        <pc:chgData name="Daniel COLES (DBT)" userId="14a9291c-d52a-4ca5-9e26-7af7f9fe396b" providerId="ADAL" clId="{60918526-AEE6-524F-84C0-CE9691A1D59D}" dt="2026-05-04T11:38:55.123" v="5" actId="14100"/>
        <pc:sldMkLst>
          <pc:docMk/>
          <pc:sldMk cId="1146464290" sldId="268"/>
        </pc:sldMkLst>
        <pc:spChg chg="del">
          <ac:chgData name="Daniel COLES (DBT)" userId="14a9291c-d52a-4ca5-9e26-7af7f9fe396b" providerId="ADAL" clId="{60918526-AEE6-524F-84C0-CE9691A1D59D}" dt="2026-05-04T11:38:32.510" v="0" actId="478"/>
          <ac:spMkLst>
            <pc:docMk/>
            <pc:sldMk cId="1146464290" sldId="268"/>
            <ac:spMk id="3" creationId="{63174621-C050-2B02-139C-E47E047B6F5B}"/>
          </ac:spMkLst>
        </pc:spChg>
        <pc:picChg chg="add mod">
          <ac:chgData name="Daniel COLES (DBT)" userId="14a9291c-d52a-4ca5-9e26-7af7f9fe396b" providerId="ADAL" clId="{60918526-AEE6-524F-84C0-CE9691A1D59D}" dt="2026-05-04T11:38:55.123" v="5" actId="14100"/>
          <ac:picMkLst>
            <pc:docMk/>
            <pc:sldMk cId="1146464290" sldId="268"/>
            <ac:picMk id="1026" creationId="{9A013BF8-475F-1375-C9F3-0A05A3A6B916}"/>
          </ac:picMkLst>
        </pc:picChg>
      </pc:sldChg>
      <pc:sldChg chg="addSp modSp mod">
        <pc:chgData name="Daniel COLES (DBT)" userId="14a9291c-d52a-4ca5-9e26-7af7f9fe396b" providerId="ADAL" clId="{60918526-AEE6-524F-84C0-CE9691A1D59D}" dt="2026-05-04T11:43:18.645" v="153" actId="20577"/>
        <pc:sldMkLst>
          <pc:docMk/>
          <pc:sldMk cId="1158204293" sldId="269"/>
        </pc:sldMkLst>
        <pc:spChg chg="add mod">
          <ac:chgData name="Daniel COLES (DBT)" userId="14a9291c-d52a-4ca5-9e26-7af7f9fe396b" providerId="ADAL" clId="{60918526-AEE6-524F-84C0-CE9691A1D59D}" dt="2026-05-04T11:43:08.187" v="138" actId="1076"/>
          <ac:spMkLst>
            <pc:docMk/>
            <pc:sldMk cId="1158204293" sldId="269"/>
            <ac:spMk id="4" creationId="{87735067-2FAC-2810-E19C-135B66A9D1C6}"/>
          </ac:spMkLst>
        </pc:spChg>
        <pc:spChg chg="add mod">
          <ac:chgData name="Daniel COLES (DBT)" userId="14a9291c-d52a-4ca5-9e26-7af7f9fe396b" providerId="ADAL" clId="{60918526-AEE6-524F-84C0-CE9691A1D59D}" dt="2026-05-04T11:43:18.645" v="153" actId="20577"/>
          <ac:spMkLst>
            <pc:docMk/>
            <pc:sldMk cId="1158204293" sldId="269"/>
            <ac:spMk id="5" creationId="{D44B4E94-4193-74A4-4366-14218784673D}"/>
          </ac:spMkLst>
        </pc:spChg>
        <pc:spChg chg="mod">
          <ac:chgData name="Daniel COLES (DBT)" userId="14a9291c-d52a-4ca5-9e26-7af7f9fe396b" providerId="ADAL" clId="{60918526-AEE6-524F-84C0-CE9691A1D59D}" dt="2026-05-04T11:43:02.657" v="137" actId="20577"/>
          <ac:spMkLst>
            <pc:docMk/>
            <pc:sldMk cId="1158204293" sldId="269"/>
            <ac:spMk id="7" creationId="{60CDA245-FFA0-2921-7E17-514D183E8BCC}"/>
          </ac:spMkLst>
        </pc:spChg>
      </pc:sldChg>
      <pc:sldChg chg="addSp modSp mod">
        <pc:chgData name="Daniel COLES (DBT)" userId="14a9291c-d52a-4ca5-9e26-7af7f9fe396b" providerId="ADAL" clId="{60918526-AEE6-524F-84C0-CE9691A1D59D}" dt="2026-05-04T11:44:38.375" v="214" actId="20577"/>
        <pc:sldMkLst>
          <pc:docMk/>
          <pc:sldMk cId="112674156" sldId="270"/>
        </pc:sldMkLst>
        <pc:spChg chg="add mod">
          <ac:chgData name="Daniel COLES (DBT)" userId="14a9291c-d52a-4ca5-9e26-7af7f9fe396b" providerId="ADAL" clId="{60918526-AEE6-524F-84C0-CE9691A1D59D}" dt="2026-05-04T11:44:30.533" v="205" actId="1076"/>
          <ac:spMkLst>
            <pc:docMk/>
            <pc:sldMk cId="112674156" sldId="270"/>
            <ac:spMk id="3" creationId="{DEF5CB7D-1641-FAE6-6B07-9E48A88CABD4}"/>
          </ac:spMkLst>
        </pc:spChg>
        <pc:spChg chg="add mod">
          <ac:chgData name="Daniel COLES (DBT)" userId="14a9291c-d52a-4ca5-9e26-7af7f9fe396b" providerId="ADAL" clId="{60918526-AEE6-524F-84C0-CE9691A1D59D}" dt="2026-05-04T11:44:38.375" v="214" actId="20577"/>
          <ac:spMkLst>
            <pc:docMk/>
            <pc:sldMk cId="112674156" sldId="270"/>
            <ac:spMk id="5" creationId="{922087E2-2D55-FC61-DF41-ED511B8EE07A}"/>
          </ac:spMkLst>
        </pc:spChg>
        <pc:spChg chg="mod">
          <ac:chgData name="Daniel COLES (DBT)" userId="14a9291c-d52a-4ca5-9e26-7af7f9fe396b" providerId="ADAL" clId="{60918526-AEE6-524F-84C0-CE9691A1D59D}" dt="2026-05-04T11:44:23.919" v="204" actId="20577"/>
          <ac:spMkLst>
            <pc:docMk/>
            <pc:sldMk cId="112674156" sldId="270"/>
            <ac:spMk id="7" creationId="{A051ECE0-E6ED-627F-5E5D-C9222D4DD4E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FE19D9-69D3-9B4F-A10B-CACB7A9F26DB}" type="datetimeFigureOut">
              <a:rPr lang="en-US" smtClean="0"/>
              <a:t>5/4/26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4AFB2E-02B1-4740-B4BD-7EFBCB47F0EC}" type="slidenum">
              <a:rPr lang="en-US" smtClean="0"/>
              <a:t>‹#›</a:t>
            </a:fld>
            <a:endParaRPr lang="en-US"/>
          </a:p>
        </p:txBody>
      </p:sp>
    </p:spTree>
    <p:extLst>
      <p:ext uri="{BB962C8B-B14F-4D97-AF65-F5344CB8AC3E}">
        <p14:creationId xmlns:p14="http://schemas.microsoft.com/office/powerpoint/2010/main" val="9379437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4AFB2E-02B1-4740-B4BD-7EFBCB47F0EC}" type="slidenum">
              <a:rPr lang="en-US" smtClean="0"/>
              <a:t>2</a:t>
            </a:fld>
            <a:endParaRPr lang="en-US"/>
          </a:p>
        </p:txBody>
      </p:sp>
    </p:spTree>
    <p:extLst>
      <p:ext uri="{BB962C8B-B14F-4D97-AF65-F5344CB8AC3E}">
        <p14:creationId xmlns:p14="http://schemas.microsoft.com/office/powerpoint/2010/main" val="2314544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CEPII gravity dataset is a massive dataset which contains 87 different variables for each county, which has existed between the years of 1948 and 2021. This contained lots of NULLs where countries stop existing or merge with other countries 238,000 in </a:t>
            </a:r>
            <a:r>
              <a:rPr lang="en-US" dirty="0" err="1"/>
              <a:t>tradeflow_baci</a:t>
            </a:r>
            <a:r>
              <a:rPr lang="en-US" dirty="0"/>
              <a:t> column had the most. This is because some columns also used NULLS where there value would be 0. E.g. countries existed but there was no trade, but could also be NULLS from countries which hadn’t released data.</a:t>
            </a:r>
          </a:p>
          <a:p>
            <a:pPr marL="171450" indent="-171450">
              <a:buFont typeface="Arial" panose="020B0604020202020204" pitchFamily="34" charset="0"/>
              <a:buChar char="•"/>
            </a:pPr>
            <a:r>
              <a:rPr lang="en-US" dirty="0"/>
              <a:t>Contained lots of duplicate columns, e.g. </a:t>
            </a:r>
            <a:r>
              <a:rPr lang="en-US" dirty="0" err="1"/>
              <a:t>tradeflow</a:t>
            </a:r>
            <a:r>
              <a:rPr lang="en-US" dirty="0"/>
              <a:t> where they listed </a:t>
            </a:r>
            <a:r>
              <a:rPr lang="en-US" dirty="0" err="1"/>
              <a:t>tradeflow</a:t>
            </a:r>
            <a:r>
              <a:rPr lang="en-US" dirty="0"/>
              <a:t> from different sources like world trade org, or IMF and different distance measures. Where applicable I chose the column with the lease amount of NULLS.</a:t>
            </a:r>
          </a:p>
          <a:p>
            <a:pPr marL="171450" indent="-171450">
              <a:buFont typeface="Arial" panose="020B0604020202020204" pitchFamily="34" charset="0"/>
              <a:buChar char="•"/>
            </a:pPr>
            <a:r>
              <a:rPr lang="en-US" dirty="0"/>
              <a:t>I immediately </a:t>
            </a:r>
            <a:r>
              <a:rPr lang="en-US" dirty="0" err="1"/>
              <a:t>subsetted</a:t>
            </a:r>
            <a:r>
              <a:rPr lang="en-US" dirty="0"/>
              <a:t> to 17 ‘relevant economic variables to drop less helpful columns like if they shared the same local hegemon, and 2010 – 2019 to avoid covid, and make the dataset manageable. This resulted in just over 500,000 rows.</a:t>
            </a:r>
          </a:p>
        </p:txBody>
      </p:sp>
      <p:sp>
        <p:nvSpPr>
          <p:cNvPr id="4" name="Slide Number Placeholder 3"/>
          <p:cNvSpPr>
            <a:spLocks noGrp="1"/>
          </p:cNvSpPr>
          <p:nvPr>
            <p:ph type="sldNum" sz="quarter" idx="5"/>
          </p:nvPr>
        </p:nvSpPr>
        <p:spPr/>
        <p:txBody>
          <a:bodyPr/>
          <a:lstStyle/>
          <a:p>
            <a:fld id="{074AFB2E-02B1-4740-B4BD-7EFBCB47F0EC}" type="slidenum">
              <a:rPr lang="en-US" smtClean="0"/>
              <a:t>3</a:t>
            </a:fld>
            <a:endParaRPr lang="en-US"/>
          </a:p>
        </p:txBody>
      </p:sp>
    </p:spTree>
    <p:extLst>
      <p:ext uri="{BB962C8B-B14F-4D97-AF65-F5344CB8AC3E}">
        <p14:creationId xmlns:p14="http://schemas.microsoft.com/office/powerpoint/2010/main" val="42278366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pairs of our dependent variable for the model contained data which wasn’t normally distributed, it was skewed and had various level of high kurtosis. I investigated these outliers and they were all valid data points, and both structural and important to our model, so I didn’t want to drop these. These are plots of GDP of origin countries of trade, but in the repo there are more visuals for other independent variables. </a:t>
            </a:r>
          </a:p>
        </p:txBody>
      </p:sp>
      <p:sp>
        <p:nvSpPr>
          <p:cNvPr id="4" name="Slide Number Placeholder 3"/>
          <p:cNvSpPr>
            <a:spLocks noGrp="1"/>
          </p:cNvSpPr>
          <p:nvPr>
            <p:ph type="sldNum" sz="quarter" idx="5"/>
          </p:nvPr>
        </p:nvSpPr>
        <p:spPr/>
        <p:txBody>
          <a:bodyPr/>
          <a:lstStyle/>
          <a:p>
            <a:fld id="{074AFB2E-02B1-4740-B4BD-7EFBCB47F0EC}" type="slidenum">
              <a:rPr lang="en-US" smtClean="0"/>
              <a:t>4</a:t>
            </a:fld>
            <a:endParaRPr lang="en-US"/>
          </a:p>
        </p:txBody>
      </p:sp>
    </p:spTree>
    <p:extLst>
      <p:ext uri="{BB962C8B-B14F-4D97-AF65-F5344CB8AC3E}">
        <p14:creationId xmlns:p14="http://schemas.microsoft.com/office/powerpoint/2010/main" val="9955981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0E793-2A30-A238-F432-0E5ADC0AA6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51CB9A-7D2B-48F4-69BE-AA0E0FE3D7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26B89B-241E-1B3E-4681-81B236E9AF79}"/>
              </a:ext>
            </a:extLst>
          </p:cNvPr>
          <p:cNvSpPr>
            <a:spLocks noGrp="1"/>
          </p:cNvSpPr>
          <p:nvPr>
            <p:ph type="body" idx="1"/>
          </p:nvPr>
        </p:nvSpPr>
        <p:spPr/>
        <p:txBody>
          <a:bodyPr/>
          <a:lstStyle/>
          <a:p>
            <a:r>
              <a:rPr lang="en-US" dirty="0"/>
              <a:t>After log transforming the inputs they were much more normally distributed and helped to resolve most outliers. Skew and Kurtosis is within reasonable limits.</a:t>
            </a:r>
          </a:p>
        </p:txBody>
      </p:sp>
      <p:sp>
        <p:nvSpPr>
          <p:cNvPr id="4" name="Slide Number Placeholder 3">
            <a:extLst>
              <a:ext uri="{FF2B5EF4-FFF2-40B4-BE49-F238E27FC236}">
                <a16:creationId xmlns:a16="http://schemas.microsoft.com/office/drawing/2014/main" id="{AA71DE6B-31F5-7897-177F-1643E892F110}"/>
              </a:ext>
            </a:extLst>
          </p:cNvPr>
          <p:cNvSpPr>
            <a:spLocks noGrp="1"/>
          </p:cNvSpPr>
          <p:nvPr>
            <p:ph type="sldNum" sz="quarter" idx="5"/>
          </p:nvPr>
        </p:nvSpPr>
        <p:spPr/>
        <p:txBody>
          <a:bodyPr/>
          <a:lstStyle/>
          <a:p>
            <a:fld id="{074AFB2E-02B1-4740-B4BD-7EFBCB47F0EC}" type="slidenum">
              <a:rPr lang="en-US" smtClean="0"/>
              <a:t>5</a:t>
            </a:fld>
            <a:endParaRPr lang="en-US"/>
          </a:p>
        </p:txBody>
      </p:sp>
    </p:spTree>
    <p:extLst>
      <p:ext uri="{BB962C8B-B14F-4D97-AF65-F5344CB8AC3E}">
        <p14:creationId xmlns:p14="http://schemas.microsoft.com/office/powerpoint/2010/main" val="37090498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458EB-D801-7F82-A95C-49E25CA4AB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24F2B6-BB9B-D1F0-E619-6C853AAE9C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17E2CA-CEF9-3AF7-E0B9-C0E92B3B08A4}"/>
              </a:ext>
            </a:extLst>
          </p:cNvPr>
          <p:cNvSpPr>
            <a:spLocks noGrp="1"/>
          </p:cNvSpPr>
          <p:nvPr>
            <p:ph type="body" idx="1"/>
          </p:nvPr>
        </p:nvSpPr>
        <p:spPr/>
        <p:txBody>
          <a:bodyPr/>
          <a:lstStyle/>
          <a:p>
            <a:r>
              <a:rPr lang="en-US" dirty="0"/>
              <a:t>My dependent variable was also highly skewed with many outliers. Again I didn’t want to remove the outliers based on the box plot because it would effect my model both in terns of number of data points, but also remove lots of the larger trading pairs. I also transformed this prior to machine learning. </a:t>
            </a:r>
          </a:p>
        </p:txBody>
      </p:sp>
      <p:sp>
        <p:nvSpPr>
          <p:cNvPr id="4" name="Slide Number Placeholder 3">
            <a:extLst>
              <a:ext uri="{FF2B5EF4-FFF2-40B4-BE49-F238E27FC236}">
                <a16:creationId xmlns:a16="http://schemas.microsoft.com/office/drawing/2014/main" id="{4F8A5198-A2EE-025B-74FA-05AD1473E8DB}"/>
              </a:ext>
            </a:extLst>
          </p:cNvPr>
          <p:cNvSpPr>
            <a:spLocks noGrp="1"/>
          </p:cNvSpPr>
          <p:nvPr>
            <p:ph type="sldNum" sz="quarter" idx="5"/>
          </p:nvPr>
        </p:nvSpPr>
        <p:spPr/>
        <p:txBody>
          <a:bodyPr/>
          <a:lstStyle/>
          <a:p>
            <a:fld id="{074AFB2E-02B1-4740-B4BD-7EFBCB47F0EC}" type="slidenum">
              <a:rPr lang="en-US" smtClean="0"/>
              <a:t>6</a:t>
            </a:fld>
            <a:endParaRPr lang="en-US"/>
          </a:p>
        </p:txBody>
      </p:sp>
    </p:spTree>
    <p:extLst>
      <p:ext uri="{BB962C8B-B14F-4D97-AF65-F5344CB8AC3E}">
        <p14:creationId xmlns:p14="http://schemas.microsoft.com/office/powerpoint/2010/main" val="5110707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4FFDF-9934-BCCC-F9C0-877955E374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6B2BB5-65AB-2C9E-0A84-45640EEA3A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696051-DAFE-2554-FC4F-6DCAA45A575B}"/>
              </a:ext>
            </a:extLst>
          </p:cNvPr>
          <p:cNvSpPr>
            <a:spLocks noGrp="1"/>
          </p:cNvSpPr>
          <p:nvPr>
            <p:ph type="body" idx="1"/>
          </p:nvPr>
        </p:nvSpPr>
        <p:spPr/>
        <p:txBody>
          <a:bodyPr/>
          <a:lstStyle/>
          <a:p>
            <a:r>
              <a:rPr lang="en-US" dirty="0"/>
              <a:t>After log transforming there were no more outliers and data was much more normally distributed.</a:t>
            </a:r>
          </a:p>
        </p:txBody>
      </p:sp>
      <p:sp>
        <p:nvSpPr>
          <p:cNvPr id="4" name="Slide Number Placeholder 3">
            <a:extLst>
              <a:ext uri="{FF2B5EF4-FFF2-40B4-BE49-F238E27FC236}">
                <a16:creationId xmlns:a16="http://schemas.microsoft.com/office/drawing/2014/main" id="{94413237-1C1A-CB2D-27D0-EF71C8D17566}"/>
              </a:ext>
            </a:extLst>
          </p:cNvPr>
          <p:cNvSpPr>
            <a:spLocks noGrp="1"/>
          </p:cNvSpPr>
          <p:nvPr>
            <p:ph type="sldNum" sz="quarter" idx="5"/>
          </p:nvPr>
        </p:nvSpPr>
        <p:spPr/>
        <p:txBody>
          <a:bodyPr/>
          <a:lstStyle/>
          <a:p>
            <a:fld id="{074AFB2E-02B1-4740-B4BD-7EFBCB47F0EC}" type="slidenum">
              <a:rPr lang="en-US" smtClean="0"/>
              <a:t>7</a:t>
            </a:fld>
            <a:endParaRPr lang="en-US"/>
          </a:p>
        </p:txBody>
      </p:sp>
    </p:spTree>
    <p:extLst>
      <p:ext uri="{BB962C8B-B14F-4D97-AF65-F5344CB8AC3E}">
        <p14:creationId xmlns:p14="http://schemas.microsoft.com/office/powerpoint/2010/main" val="16412547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1EBA8-6756-0981-EA92-EF200E6581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C31197-DFA5-DA39-CC79-77E3C23FCF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3EFFBA-3045-8673-A8B7-62D6BED3B42F}"/>
              </a:ext>
            </a:extLst>
          </p:cNvPr>
          <p:cNvSpPr>
            <a:spLocks noGrp="1"/>
          </p:cNvSpPr>
          <p:nvPr>
            <p:ph type="body" idx="1"/>
          </p:nvPr>
        </p:nvSpPr>
        <p:spPr/>
        <p:txBody>
          <a:bodyPr/>
          <a:lstStyle/>
          <a:p>
            <a:r>
              <a:rPr lang="en-US" dirty="0"/>
              <a:t>I also plotted a correlation matrix between all variables. I noticed there was multiple input variables which we correlated with each other. I investigated dropping variables such as pop since it is closely related to </a:t>
            </a:r>
            <a:r>
              <a:rPr lang="en-US" dirty="0" err="1"/>
              <a:t>gdp</a:t>
            </a:r>
            <a:r>
              <a:rPr lang="en-US" dirty="0"/>
              <a:t>, but decided against it because they are both different measure, and there are countries with high pop and lower </a:t>
            </a:r>
            <a:r>
              <a:rPr lang="en-US" dirty="0" err="1"/>
              <a:t>gdp</a:t>
            </a:r>
            <a:r>
              <a:rPr lang="en-US" dirty="0"/>
              <a:t>, or vice versa. This can also be explained by another variables gpd per capita. I then took variables over 0.2 into my model.</a:t>
            </a:r>
          </a:p>
        </p:txBody>
      </p:sp>
      <p:sp>
        <p:nvSpPr>
          <p:cNvPr id="4" name="Slide Number Placeholder 3">
            <a:extLst>
              <a:ext uri="{FF2B5EF4-FFF2-40B4-BE49-F238E27FC236}">
                <a16:creationId xmlns:a16="http://schemas.microsoft.com/office/drawing/2014/main" id="{77BB0A00-45B7-F4CC-7660-2E3520EDB611}"/>
              </a:ext>
            </a:extLst>
          </p:cNvPr>
          <p:cNvSpPr>
            <a:spLocks noGrp="1"/>
          </p:cNvSpPr>
          <p:nvPr>
            <p:ph type="sldNum" sz="quarter" idx="5"/>
          </p:nvPr>
        </p:nvSpPr>
        <p:spPr/>
        <p:txBody>
          <a:bodyPr/>
          <a:lstStyle/>
          <a:p>
            <a:fld id="{074AFB2E-02B1-4740-B4BD-7EFBCB47F0EC}" type="slidenum">
              <a:rPr lang="en-US" smtClean="0"/>
              <a:t>8</a:t>
            </a:fld>
            <a:endParaRPr lang="en-US"/>
          </a:p>
        </p:txBody>
      </p:sp>
    </p:spTree>
    <p:extLst>
      <p:ext uri="{BB962C8B-B14F-4D97-AF65-F5344CB8AC3E}">
        <p14:creationId xmlns:p14="http://schemas.microsoft.com/office/powerpoint/2010/main" val="40572509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looking at the metadata, I found that null values can come from either changes to countries, no data being released, or no trade at all i.e., value of 0. We can see that the nulls in the </a:t>
            </a:r>
            <a:r>
              <a:rPr lang="en-US" dirty="0" err="1"/>
              <a:t>gdp</a:t>
            </a:r>
            <a:r>
              <a:rPr lang="en-US" dirty="0"/>
              <a:t> and pop are lower than </a:t>
            </a:r>
            <a:r>
              <a:rPr lang="en-US" dirty="0" err="1"/>
              <a:t>tradeflow</a:t>
            </a:r>
            <a:r>
              <a:rPr lang="en-US" dirty="0"/>
              <a:t>. This is because gpd and pop nulls would be because of countries changing or not releasing data. But </a:t>
            </a:r>
            <a:r>
              <a:rPr lang="en-US" dirty="0" err="1"/>
              <a:t>tradeflow</a:t>
            </a:r>
            <a:r>
              <a:rPr lang="en-US" dirty="0"/>
              <a:t> could also contain the 0 values coded as nulls as well as defunct countries.</a:t>
            </a:r>
          </a:p>
        </p:txBody>
      </p:sp>
      <p:sp>
        <p:nvSpPr>
          <p:cNvPr id="4" name="Slide Number Placeholder 3"/>
          <p:cNvSpPr>
            <a:spLocks noGrp="1"/>
          </p:cNvSpPr>
          <p:nvPr>
            <p:ph type="sldNum" sz="quarter" idx="5"/>
          </p:nvPr>
        </p:nvSpPr>
        <p:spPr/>
        <p:txBody>
          <a:bodyPr/>
          <a:lstStyle/>
          <a:p>
            <a:fld id="{074AFB2E-02B1-4740-B4BD-7EFBCB47F0EC}" type="slidenum">
              <a:rPr lang="en-US" smtClean="0"/>
              <a:t>9</a:t>
            </a:fld>
            <a:endParaRPr lang="en-US"/>
          </a:p>
        </p:txBody>
      </p:sp>
    </p:spTree>
    <p:extLst>
      <p:ext uri="{BB962C8B-B14F-4D97-AF65-F5344CB8AC3E}">
        <p14:creationId xmlns:p14="http://schemas.microsoft.com/office/powerpoint/2010/main" val="9441758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a:t>
            </a:r>
            <a:r>
              <a:rPr lang="en-US"/>
              <a:t>of this nulls </a:t>
            </a:r>
            <a:r>
              <a:rPr lang="en-US" dirty="0"/>
              <a:t>were dropped. I investigated </a:t>
            </a:r>
            <a:r>
              <a:rPr lang="en-US" dirty="0" err="1"/>
              <a:t>backfiling</a:t>
            </a:r>
            <a:r>
              <a:rPr lang="en-US" dirty="0"/>
              <a:t>, but because some country pairs has occasional data e.g. 1 or 2 rows, but the time you split into train test, there still wouldn’t be enough to accurately fill in missing values and this couldn’t be done prior to splitting due to leaky data principals.</a:t>
            </a:r>
          </a:p>
        </p:txBody>
      </p:sp>
      <p:sp>
        <p:nvSpPr>
          <p:cNvPr id="4" name="Slide Number Placeholder 3"/>
          <p:cNvSpPr>
            <a:spLocks noGrp="1"/>
          </p:cNvSpPr>
          <p:nvPr>
            <p:ph type="sldNum" sz="quarter" idx="5"/>
          </p:nvPr>
        </p:nvSpPr>
        <p:spPr/>
        <p:txBody>
          <a:bodyPr/>
          <a:lstStyle/>
          <a:p>
            <a:fld id="{074AFB2E-02B1-4740-B4BD-7EFBCB47F0EC}" type="slidenum">
              <a:rPr lang="en-US" smtClean="0"/>
              <a:t>10</a:t>
            </a:fld>
            <a:endParaRPr lang="en-US"/>
          </a:p>
        </p:txBody>
      </p:sp>
    </p:spTree>
    <p:extLst>
      <p:ext uri="{BB962C8B-B14F-4D97-AF65-F5344CB8AC3E}">
        <p14:creationId xmlns:p14="http://schemas.microsoft.com/office/powerpoint/2010/main" val="17589550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used a baseline model with cv of 5 to get RMSEs for the 4 chosen models to decide which models to tune. I chose Linear regression and random </a:t>
            </a:r>
            <a:r>
              <a:rPr lang="en-US" dirty="0" err="1"/>
              <a:t>forrest</a:t>
            </a:r>
            <a:r>
              <a:rPr lang="en-US" dirty="0"/>
              <a:t> because one is very fast and reasonably accurate, and another has the best RMSE scores, albeit look a long time to fit.</a:t>
            </a:r>
          </a:p>
        </p:txBody>
      </p:sp>
      <p:sp>
        <p:nvSpPr>
          <p:cNvPr id="4" name="Slide Number Placeholder 3"/>
          <p:cNvSpPr>
            <a:spLocks noGrp="1"/>
          </p:cNvSpPr>
          <p:nvPr>
            <p:ph type="sldNum" sz="quarter" idx="5"/>
          </p:nvPr>
        </p:nvSpPr>
        <p:spPr/>
        <p:txBody>
          <a:bodyPr/>
          <a:lstStyle/>
          <a:p>
            <a:fld id="{074AFB2E-02B1-4740-B4BD-7EFBCB47F0EC}" type="slidenum">
              <a:rPr lang="en-US" smtClean="0"/>
              <a:t>11</a:t>
            </a:fld>
            <a:endParaRPr lang="en-US"/>
          </a:p>
        </p:txBody>
      </p:sp>
    </p:spTree>
    <p:extLst>
      <p:ext uri="{BB962C8B-B14F-4D97-AF65-F5344CB8AC3E}">
        <p14:creationId xmlns:p14="http://schemas.microsoft.com/office/powerpoint/2010/main" val="38973901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Hyper parameter tuning the linear regression model didn’t increase accuracy. Whether that was because the default parameters where the best, or I should have used a larger set of parameter options. But we can see that it fit fairly accuracy, had expected residuals and didn’t seem to over or underfit the data as show in the learning curve plot and only needed a small amount of data to fit an accurate model. It also resulted in </a:t>
            </a:r>
            <a:r>
              <a:rPr lang="en-US" dirty="0" err="1"/>
              <a:t>gdp</a:t>
            </a:r>
            <a:r>
              <a:rPr lang="en-US" dirty="0"/>
              <a:t> and population as the highest coefficients, also interestingly more of the origin country than the destination. This could suggest ‘seller’ countries are more likely to initiate trades.</a:t>
            </a:r>
          </a:p>
        </p:txBody>
      </p:sp>
      <p:sp>
        <p:nvSpPr>
          <p:cNvPr id="4" name="Slide Number Placeholder 3"/>
          <p:cNvSpPr>
            <a:spLocks noGrp="1"/>
          </p:cNvSpPr>
          <p:nvPr>
            <p:ph type="sldNum" sz="quarter" idx="5"/>
          </p:nvPr>
        </p:nvSpPr>
        <p:spPr/>
        <p:txBody>
          <a:bodyPr/>
          <a:lstStyle/>
          <a:p>
            <a:fld id="{074AFB2E-02B1-4740-B4BD-7EFBCB47F0EC}" type="slidenum">
              <a:rPr lang="en-US" smtClean="0"/>
              <a:t>12</a:t>
            </a:fld>
            <a:endParaRPr lang="en-US"/>
          </a:p>
        </p:txBody>
      </p:sp>
    </p:spTree>
    <p:extLst>
      <p:ext uri="{BB962C8B-B14F-4D97-AF65-F5344CB8AC3E}">
        <p14:creationId xmlns:p14="http://schemas.microsoft.com/office/powerpoint/2010/main" val="40033809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Again after tuning there was no gains to this model. This could be because of the small similar grid fed into the search. Since it took a long time to run I didn’t experiment with a large set of params. The plot also shows us that this model is still able to get higher accuracy by feeding in more data to help prevent overfitting. But it is starting to level off to a degree. But still was still a very accurate model with RMSE of 5.4 with test data when the raw data can range in the thousands.</a:t>
            </a:r>
          </a:p>
        </p:txBody>
      </p:sp>
      <p:sp>
        <p:nvSpPr>
          <p:cNvPr id="4" name="Slide Number Placeholder 3"/>
          <p:cNvSpPr>
            <a:spLocks noGrp="1"/>
          </p:cNvSpPr>
          <p:nvPr>
            <p:ph type="sldNum" sz="quarter" idx="5"/>
          </p:nvPr>
        </p:nvSpPr>
        <p:spPr/>
        <p:txBody>
          <a:bodyPr/>
          <a:lstStyle/>
          <a:p>
            <a:fld id="{074AFB2E-02B1-4740-B4BD-7EFBCB47F0EC}" type="slidenum">
              <a:rPr lang="en-US" smtClean="0"/>
              <a:t>13</a:t>
            </a:fld>
            <a:endParaRPr lang="en-US"/>
          </a:p>
        </p:txBody>
      </p:sp>
    </p:spTree>
    <p:extLst>
      <p:ext uri="{BB962C8B-B14F-4D97-AF65-F5344CB8AC3E}">
        <p14:creationId xmlns:p14="http://schemas.microsoft.com/office/powerpoint/2010/main" val="21155129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Improvements can come from a few different changes, I could use more data, either raw or impute the nulls. I can also use more models like </a:t>
            </a:r>
            <a:r>
              <a:rPr lang="en-US" dirty="0" err="1"/>
              <a:t>XGBoost</a:t>
            </a:r>
            <a:r>
              <a:rPr lang="en-US" dirty="0"/>
              <a:t> and Ridge, since </a:t>
            </a:r>
            <a:r>
              <a:rPr lang="en-US" dirty="0" err="1"/>
              <a:t>ElesticNet</a:t>
            </a:r>
            <a:r>
              <a:rPr lang="en-US" dirty="0"/>
              <a:t> raised an error for heavily penalized coefficients and recommended ridge. I could also use much more options in the grid search. Although the drawback for this would be exponential train times for the random forest model.</a:t>
            </a:r>
          </a:p>
        </p:txBody>
      </p:sp>
      <p:sp>
        <p:nvSpPr>
          <p:cNvPr id="4" name="Slide Number Placeholder 3"/>
          <p:cNvSpPr>
            <a:spLocks noGrp="1"/>
          </p:cNvSpPr>
          <p:nvPr>
            <p:ph type="sldNum" sz="quarter" idx="5"/>
          </p:nvPr>
        </p:nvSpPr>
        <p:spPr/>
        <p:txBody>
          <a:bodyPr/>
          <a:lstStyle/>
          <a:p>
            <a:fld id="{074AFB2E-02B1-4740-B4BD-7EFBCB47F0EC}" type="slidenum">
              <a:rPr lang="en-US" smtClean="0"/>
              <a:t>14</a:t>
            </a:fld>
            <a:endParaRPr lang="en-US"/>
          </a:p>
        </p:txBody>
      </p:sp>
    </p:spTree>
    <p:extLst>
      <p:ext uri="{BB962C8B-B14F-4D97-AF65-F5344CB8AC3E}">
        <p14:creationId xmlns:p14="http://schemas.microsoft.com/office/powerpoint/2010/main" val="26143829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D3F10-6B6E-E1E5-3100-C54F62EE817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4F8590B9-9040-3BDD-FFFB-D42483363A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9D1AB842-0DFA-20AF-878D-692C448AF295}"/>
              </a:ext>
            </a:extLst>
          </p:cNvPr>
          <p:cNvSpPr>
            <a:spLocks noGrp="1"/>
          </p:cNvSpPr>
          <p:nvPr>
            <p:ph type="dt" sz="half" idx="10"/>
          </p:nvPr>
        </p:nvSpPr>
        <p:spPr/>
        <p:txBody>
          <a:bodyPr/>
          <a:lstStyle/>
          <a:p>
            <a:fld id="{60F2BD66-A9C3-A946-A120-37BD8A32C493}" type="datetimeFigureOut">
              <a:rPr lang="en-US" smtClean="0"/>
              <a:t>5/4/26</a:t>
            </a:fld>
            <a:endParaRPr lang="en-US"/>
          </a:p>
        </p:txBody>
      </p:sp>
      <p:sp>
        <p:nvSpPr>
          <p:cNvPr id="5" name="Footer Placeholder 4">
            <a:extLst>
              <a:ext uri="{FF2B5EF4-FFF2-40B4-BE49-F238E27FC236}">
                <a16:creationId xmlns:a16="http://schemas.microsoft.com/office/drawing/2014/main" id="{975B13F6-3E7D-5F4F-311D-7B651A3F23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229BEE-9E82-CE83-643F-8FECB8D19D71}"/>
              </a:ext>
            </a:extLst>
          </p:cNvPr>
          <p:cNvSpPr>
            <a:spLocks noGrp="1"/>
          </p:cNvSpPr>
          <p:nvPr>
            <p:ph type="sldNum" sz="quarter" idx="12"/>
          </p:nvPr>
        </p:nvSpPr>
        <p:spPr/>
        <p:txBody>
          <a:bodyPr/>
          <a:lstStyle/>
          <a:p>
            <a:fld id="{487F85EF-87A6-754B-8E89-1B19969306A1}" type="slidenum">
              <a:rPr lang="en-US" smtClean="0"/>
              <a:t>‹#›</a:t>
            </a:fld>
            <a:endParaRPr lang="en-US"/>
          </a:p>
        </p:txBody>
      </p:sp>
    </p:spTree>
    <p:extLst>
      <p:ext uri="{BB962C8B-B14F-4D97-AF65-F5344CB8AC3E}">
        <p14:creationId xmlns:p14="http://schemas.microsoft.com/office/powerpoint/2010/main" val="37011677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115D3-BCF7-1B0C-5DF4-47B6A9AF0C1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8FE1B0B-DA4D-D5E6-28AE-9B1B906AC16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F487FFD-EA8D-D245-76A9-FCB3BAA7C5E0}"/>
              </a:ext>
            </a:extLst>
          </p:cNvPr>
          <p:cNvSpPr>
            <a:spLocks noGrp="1"/>
          </p:cNvSpPr>
          <p:nvPr>
            <p:ph type="dt" sz="half" idx="10"/>
          </p:nvPr>
        </p:nvSpPr>
        <p:spPr/>
        <p:txBody>
          <a:bodyPr/>
          <a:lstStyle/>
          <a:p>
            <a:fld id="{60F2BD66-A9C3-A946-A120-37BD8A32C493}" type="datetimeFigureOut">
              <a:rPr lang="en-US" smtClean="0"/>
              <a:t>5/4/26</a:t>
            </a:fld>
            <a:endParaRPr lang="en-US"/>
          </a:p>
        </p:txBody>
      </p:sp>
      <p:sp>
        <p:nvSpPr>
          <p:cNvPr id="5" name="Footer Placeholder 4">
            <a:extLst>
              <a:ext uri="{FF2B5EF4-FFF2-40B4-BE49-F238E27FC236}">
                <a16:creationId xmlns:a16="http://schemas.microsoft.com/office/drawing/2014/main" id="{E22256BF-5B45-BA40-44B7-476DC76D93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144DA7-EB9B-96CC-ADD8-CB6F804A152B}"/>
              </a:ext>
            </a:extLst>
          </p:cNvPr>
          <p:cNvSpPr>
            <a:spLocks noGrp="1"/>
          </p:cNvSpPr>
          <p:nvPr>
            <p:ph type="sldNum" sz="quarter" idx="12"/>
          </p:nvPr>
        </p:nvSpPr>
        <p:spPr/>
        <p:txBody>
          <a:bodyPr/>
          <a:lstStyle/>
          <a:p>
            <a:fld id="{487F85EF-87A6-754B-8E89-1B19969306A1}" type="slidenum">
              <a:rPr lang="en-US" smtClean="0"/>
              <a:t>‹#›</a:t>
            </a:fld>
            <a:endParaRPr lang="en-US"/>
          </a:p>
        </p:txBody>
      </p:sp>
    </p:spTree>
    <p:extLst>
      <p:ext uri="{BB962C8B-B14F-4D97-AF65-F5344CB8AC3E}">
        <p14:creationId xmlns:p14="http://schemas.microsoft.com/office/powerpoint/2010/main" val="3357187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96C75-47D2-0F45-D611-E5F7E1A05B70}"/>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A3FD51D7-5CFB-DD7F-F92E-3DBE3101808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A7DC5CC-DBB6-C800-FF7D-828E0589AC72}"/>
              </a:ext>
            </a:extLst>
          </p:cNvPr>
          <p:cNvSpPr>
            <a:spLocks noGrp="1"/>
          </p:cNvSpPr>
          <p:nvPr>
            <p:ph type="dt" sz="half" idx="10"/>
          </p:nvPr>
        </p:nvSpPr>
        <p:spPr/>
        <p:txBody>
          <a:bodyPr/>
          <a:lstStyle/>
          <a:p>
            <a:fld id="{60F2BD66-A9C3-A946-A120-37BD8A32C493}" type="datetimeFigureOut">
              <a:rPr lang="en-US" smtClean="0"/>
              <a:t>5/4/26</a:t>
            </a:fld>
            <a:endParaRPr lang="en-US"/>
          </a:p>
        </p:txBody>
      </p:sp>
      <p:sp>
        <p:nvSpPr>
          <p:cNvPr id="5" name="Footer Placeholder 4">
            <a:extLst>
              <a:ext uri="{FF2B5EF4-FFF2-40B4-BE49-F238E27FC236}">
                <a16:creationId xmlns:a16="http://schemas.microsoft.com/office/drawing/2014/main" id="{5581C01F-9A2E-3DF4-2737-F00BA8B23C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8EA2C8-3E13-E81C-E9AA-7BB2D658FBCD}"/>
              </a:ext>
            </a:extLst>
          </p:cNvPr>
          <p:cNvSpPr>
            <a:spLocks noGrp="1"/>
          </p:cNvSpPr>
          <p:nvPr>
            <p:ph type="sldNum" sz="quarter" idx="12"/>
          </p:nvPr>
        </p:nvSpPr>
        <p:spPr/>
        <p:txBody>
          <a:bodyPr/>
          <a:lstStyle/>
          <a:p>
            <a:fld id="{487F85EF-87A6-754B-8E89-1B19969306A1}" type="slidenum">
              <a:rPr lang="en-US" smtClean="0"/>
              <a:t>‹#›</a:t>
            </a:fld>
            <a:endParaRPr lang="en-US"/>
          </a:p>
        </p:txBody>
      </p:sp>
    </p:spTree>
    <p:extLst>
      <p:ext uri="{BB962C8B-B14F-4D97-AF65-F5344CB8AC3E}">
        <p14:creationId xmlns:p14="http://schemas.microsoft.com/office/powerpoint/2010/main" val="3152414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64F65-A9E8-E1A2-86CC-0D07DDE6711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01B446F-636D-DA5E-15FC-AEB0200DEB14}"/>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ADD4C011-2524-1175-AA40-98F58BDBD62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3E0E2F5-7110-A928-4D50-1641D13DD440}"/>
              </a:ext>
            </a:extLst>
          </p:cNvPr>
          <p:cNvSpPr>
            <a:spLocks noGrp="1"/>
          </p:cNvSpPr>
          <p:nvPr>
            <p:ph type="dt" sz="half" idx="10"/>
          </p:nvPr>
        </p:nvSpPr>
        <p:spPr/>
        <p:txBody>
          <a:bodyPr/>
          <a:lstStyle/>
          <a:p>
            <a:fld id="{60F2BD66-A9C3-A946-A120-37BD8A32C493}" type="datetimeFigureOut">
              <a:rPr lang="en-US" smtClean="0"/>
              <a:t>5/4/26</a:t>
            </a:fld>
            <a:endParaRPr lang="en-US"/>
          </a:p>
        </p:txBody>
      </p:sp>
      <p:sp>
        <p:nvSpPr>
          <p:cNvPr id="6" name="Footer Placeholder 5">
            <a:extLst>
              <a:ext uri="{FF2B5EF4-FFF2-40B4-BE49-F238E27FC236}">
                <a16:creationId xmlns:a16="http://schemas.microsoft.com/office/drawing/2014/main" id="{03B75794-9D1F-4401-0626-A1DBA9D2726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2126E9-FE06-8C3B-D772-69C5F69121B0}"/>
              </a:ext>
            </a:extLst>
          </p:cNvPr>
          <p:cNvSpPr>
            <a:spLocks noGrp="1"/>
          </p:cNvSpPr>
          <p:nvPr>
            <p:ph type="sldNum" sz="quarter" idx="12"/>
          </p:nvPr>
        </p:nvSpPr>
        <p:spPr/>
        <p:txBody>
          <a:bodyPr/>
          <a:lstStyle/>
          <a:p>
            <a:fld id="{487F85EF-87A6-754B-8E89-1B19969306A1}" type="slidenum">
              <a:rPr lang="en-US" smtClean="0"/>
              <a:t>‹#›</a:t>
            </a:fld>
            <a:endParaRPr lang="en-US"/>
          </a:p>
        </p:txBody>
      </p:sp>
    </p:spTree>
    <p:extLst>
      <p:ext uri="{BB962C8B-B14F-4D97-AF65-F5344CB8AC3E}">
        <p14:creationId xmlns:p14="http://schemas.microsoft.com/office/powerpoint/2010/main" val="35830004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29990-548B-E727-5626-DE93D1C7396A}"/>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C0E6B07-E2A1-073D-982B-DD7E957371F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1293629-AA19-C910-F1E5-083DD8FBAC98}"/>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B05BA2-74E3-62EC-9395-83D3D23925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2406BF9-4122-60DD-BD5D-36859DAACB1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0933351D-69B6-F91B-FDBC-634EAB58702D}"/>
              </a:ext>
            </a:extLst>
          </p:cNvPr>
          <p:cNvSpPr>
            <a:spLocks noGrp="1"/>
          </p:cNvSpPr>
          <p:nvPr>
            <p:ph type="dt" sz="half" idx="10"/>
          </p:nvPr>
        </p:nvSpPr>
        <p:spPr/>
        <p:txBody>
          <a:bodyPr/>
          <a:lstStyle/>
          <a:p>
            <a:fld id="{60F2BD66-A9C3-A946-A120-37BD8A32C493}" type="datetimeFigureOut">
              <a:rPr lang="en-US" smtClean="0"/>
              <a:t>5/4/26</a:t>
            </a:fld>
            <a:endParaRPr lang="en-US"/>
          </a:p>
        </p:txBody>
      </p:sp>
      <p:sp>
        <p:nvSpPr>
          <p:cNvPr id="8" name="Footer Placeholder 7">
            <a:extLst>
              <a:ext uri="{FF2B5EF4-FFF2-40B4-BE49-F238E27FC236}">
                <a16:creationId xmlns:a16="http://schemas.microsoft.com/office/drawing/2014/main" id="{7CDB8B06-0DA6-D17F-6EB1-23576CB62E0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23BF9E5-1EE8-7C84-F08F-607068EB6E8D}"/>
              </a:ext>
            </a:extLst>
          </p:cNvPr>
          <p:cNvSpPr>
            <a:spLocks noGrp="1"/>
          </p:cNvSpPr>
          <p:nvPr>
            <p:ph type="sldNum" sz="quarter" idx="12"/>
          </p:nvPr>
        </p:nvSpPr>
        <p:spPr/>
        <p:txBody>
          <a:bodyPr/>
          <a:lstStyle/>
          <a:p>
            <a:fld id="{487F85EF-87A6-754B-8E89-1B19969306A1}" type="slidenum">
              <a:rPr lang="en-US" smtClean="0"/>
              <a:t>‹#›</a:t>
            </a:fld>
            <a:endParaRPr lang="en-US"/>
          </a:p>
        </p:txBody>
      </p:sp>
    </p:spTree>
    <p:extLst>
      <p:ext uri="{BB962C8B-B14F-4D97-AF65-F5344CB8AC3E}">
        <p14:creationId xmlns:p14="http://schemas.microsoft.com/office/powerpoint/2010/main" val="39151078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3D112-262D-1AA4-0962-2061FDD45FA7}"/>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A4235513-5E67-03C5-44F9-710D8F14D9FD}"/>
              </a:ext>
            </a:extLst>
          </p:cNvPr>
          <p:cNvSpPr>
            <a:spLocks noGrp="1"/>
          </p:cNvSpPr>
          <p:nvPr>
            <p:ph type="dt" sz="half" idx="10"/>
          </p:nvPr>
        </p:nvSpPr>
        <p:spPr/>
        <p:txBody>
          <a:bodyPr/>
          <a:lstStyle/>
          <a:p>
            <a:fld id="{60F2BD66-A9C3-A946-A120-37BD8A32C493}" type="datetimeFigureOut">
              <a:rPr lang="en-US" smtClean="0"/>
              <a:t>5/4/26</a:t>
            </a:fld>
            <a:endParaRPr lang="en-US"/>
          </a:p>
        </p:txBody>
      </p:sp>
      <p:sp>
        <p:nvSpPr>
          <p:cNvPr id="4" name="Footer Placeholder 3">
            <a:extLst>
              <a:ext uri="{FF2B5EF4-FFF2-40B4-BE49-F238E27FC236}">
                <a16:creationId xmlns:a16="http://schemas.microsoft.com/office/drawing/2014/main" id="{73113B3D-6ED5-C64A-A0F3-F24E982EF30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46B306E-FF4A-6C77-3410-9992424989FA}"/>
              </a:ext>
            </a:extLst>
          </p:cNvPr>
          <p:cNvSpPr>
            <a:spLocks noGrp="1"/>
          </p:cNvSpPr>
          <p:nvPr>
            <p:ph type="sldNum" sz="quarter" idx="12"/>
          </p:nvPr>
        </p:nvSpPr>
        <p:spPr/>
        <p:txBody>
          <a:bodyPr/>
          <a:lstStyle/>
          <a:p>
            <a:fld id="{487F85EF-87A6-754B-8E89-1B19969306A1}" type="slidenum">
              <a:rPr lang="en-US" smtClean="0"/>
              <a:t>‹#›</a:t>
            </a:fld>
            <a:endParaRPr lang="en-US"/>
          </a:p>
        </p:txBody>
      </p:sp>
    </p:spTree>
    <p:extLst>
      <p:ext uri="{BB962C8B-B14F-4D97-AF65-F5344CB8AC3E}">
        <p14:creationId xmlns:p14="http://schemas.microsoft.com/office/powerpoint/2010/main" val="33335095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06815B-51B1-9883-D485-51CAEA0FB190}"/>
              </a:ext>
            </a:extLst>
          </p:cNvPr>
          <p:cNvSpPr>
            <a:spLocks noGrp="1"/>
          </p:cNvSpPr>
          <p:nvPr>
            <p:ph type="dt" sz="half" idx="10"/>
          </p:nvPr>
        </p:nvSpPr>
        <p:spPr/>
        <p:txBody>
          <a:bodyPr/>
          <a:lstStyle/>
          <a:p>
            <a:fld id="{60F2BD66-A9C3-A946-A120-37BD8A32C493}" type="datetimeFigureOut">
              <a:rPr lang="en-US" smtClean="0"/>
              <a:t>5/4/26</a:t>
            </a:fld>
            <a:endParaRPr lang="en-US"/>
          </a:p>
        </p:txBody>
      </p:sp>
      <p:sp>
        <p:nvSpPr>
          <p:cNvPr id="3" name="Footer Placeholder 2">
            <a:extLst>
              <a:ext uri="{FF2B5EF4-FFF2-40B4-BE49-F238E27FC236}">
                <a16:creationId xmlns:a16="http://schemas.microsoft.com/office/drawing/2014/main" id="{535DA096-57E9-0C55-D331-51122526958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FDE3ED2-390C-21CA-AF7B-654DD13505FB}"/>
              </a:ext>
            </a:extLst>
          </p:cNvPr>
          <p:cNvSpPr>
            <a:spLocks noGrp="1"/>
          </p:cNvSpPr>
          <p:nvPr>
            <p:ph type="sldNum" sz="quarter" idx="12"/>
          </p:nvPr>
        </p:nvSpPr>
        <p:spPr/>
        <p:txBody>
          <a:bodyPr/>
          <a:lstStyle/>
          <a:p>
            <a:fld id="{487F85EF-87A6-754B-8E89-1B19969306A1}" type="slidenum">
              <a:rPr lang="en-US" smtClean="0"/>
              <a:t>‹#›</a:t>
            </a:fld>
            <a:endParaRPr lang="en-US"/>
          </a:p>
        </p:txBody>
      </p:sp>
    </p:spTree>
    <p:extLst>
      <p:ext uri="{BB962C8B-B14F-4D97-AF65-F5344CB8AC3E}">
        <p14:creationId xmlns:p14="http://schemas.microsoft.com/office/powerpoint/2010/main" val="2740759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F3B9F-D56A-E8FF-DE9C-0F387682B69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CC28DBFE-51B0-602A-D62A-A9991E3FE30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EB21451E-0C0A-0D94-8FA8-95B1FAE661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A40BE1A-7A87-9D06-FF07-20DA8CCF5650}"/>
              </a:ext>
            </a:extLst>
          </p:cNvPr>
          <p:cNvSpPr>
            <a:spLocks noGrp="1"/>
          </p:cNvSpPr>
          <p:nvPr>
            <p:ph type="dt" sz="half" idx="10"/>
          </p:nvPr>
        </p:nvSpPr>
        <p:spPr/>
        <p:txBody>
          <a:bodyPr/>
          <a:lstStyle/>
          <a:p>
            <a:fld id="{60F2BD66-A9C3-A946-A120-37BD8A32C493}" type="datetimeFigureOut">
              <a:rPr lang="en-US" smtClean="0"/>
              <a:t>5/4/26</a:t>
            </a:fld>
            <a:endParaRPr lang="en-US"/>
          </a:p>
        </p:txBody>
      </p:sp>
      <p:sp>
        <p:nvSpPr>
          <p:cNvPr id="6" name="Footer Placeholder 5">
            <a:extLst>
              <a:ext uri="{FF2B5EF4-FFF2-40B4-BE49-F238E27FC236}">
                <a16:creationId xmlns:a16="http://schemas.microsoft.com/office/drawing/2014/main" id="{D21674D5-8D70-F1DA-0895-5132AF1331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B7D9A1-18F9-AF01-1812-03D21ED38268}"/>
              </a:ext>
            </a:extLst>
          </p:cNvPr>
          <p:cNvSpPr>
            <a:spLocks noGrp="1"/>
          </p:cNvSpPr>
          <p:nvPr>
            <p:ph type="sldNum" sz="quarter" idx="12"/>
          </p:nvPr>
        </p:nvSpPr>
        <p:spPr/>
        <p:txBody>
          <a:bodyPr/>
          <a:lstStyle/>
          <a:p>
            <a:fld id="{487F85EF-87A6-754B-8E89-1B19969306A1}" type="slidenum">
              <a:rPr lang="en-US" smtClean="0"/>
              <a:t>‹#›</a:t>
            </a:fld>
            <a:endParaRPr lang="en-US"/>
          </a:p>
        </p:txBody>
      </p:sp>
    </p:spTree>
    <p:extLst>
      <p:ext uri="{BB962C8B-B14F-4D97-AF65-F5344CB8AC3E}">
        <p14:creationId xmlns:p14="http://schemas.microsoft.com/office/powerpoint/2010/main" val="39024884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B94D9-0D07-CA9E-4561-89B33336E2D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E2B01D08-EAC6-7AFB-6484-975768C3295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B875F54-8800-271C-38E1-700FECFB0F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4D61742-9C63-EEA8-4AC8-214EE98B86AE}"/>
              </a:ext>
            </a:extLst>
          </p:cNvPr>
          <p:cNvSpPr>
            <a:spLocks noGrp="1"/>
          </p:cNvSpPr>
          <p:nvPr>
            <p:ph type="dt" sz="half" idx="10"/>
          </p:nvPr>
        </p:nvSpPr>
        <p:spPr/>
        <p:txBody>
          <a:bodyPr/>
          <a:lstStyle/>
          <a:p>
            <a:fld id="{60F2BD66-A9C3-A946-A120-37BD8A32C493}" type="datetimeFigureOut">
              <a:rPr lang="en-US" smtClean="0"/>
              <a:t>5/4/26</a:t>
            </a:fld>
            <a:endParaRPr lang="en-US"/>
          </a:p>
        </p:txBody>
      </p:sp>
      <p:sp>
        <p:nvSpPr>
          <p:cNvPr id="6" name="Footer Placeholder 5">
            <a:extLst>
              <a:ext uri="{FF2B5EF4-FFF2-40B4-BE49-F238E27FC236}">
                <a16:creationId xmlns:a16="http://schemas.microsoft.com/office/drawing/2014/main" id="{CDD4DAF6-5C46-4472-659B-040FE453E1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9F3EA7-BEB0-0A12-C572-4128CF930E4C}"/>
              </a:ext>
            </a:extLst>
          </p:cNvPr>
          <p:cNvSpPr>
            <a:spLocks noGrp="1"/>
          </p:cNvSpPr>
          <p:nvPr>
            <p:ph type="sldNum" sz="quarter" idx="12"/>
          </p:nvPr>
        </p:nvSpPr>
        <p:spPr/>
        <p:txBody>
          <a:bodyPr/>
          <a:lstStyle/>
          <a:p>
            <a:fld id="{487F85EF-87A6-754B-8E89-1B19969306A1}" type="slidenum">
              <a:rPr lang="en-US" smtClean="0"/>
              <a:t>‹#›</a:t>
            </a:fld>
            <a:endParaRPr lang="en-US"/>
          </a:p>
        </p:txBody>
      </p:sp>
    </p:spTree>
    <p:extLst>
      <p:ext uri="{BB962C8B-B14F-4D97-AF65-F5344CB8AC3E}">
        <p14:creationId xmlns:p14="http://schemas.microsoft.com/office/powerpoint/2010/main" val="1853762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EEC3A-6159-2A13-2174-FC691DCD76E8}"/>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EFA84DB-CD97-7B01-3E7E-F429D1672D54}"/>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EE0901B-782D-E030-E46E-C8FE4D9BAD34}"/>
              </a:ext>
            </a:extLst>
          </p:cNvPr>
          <p:cNvSpPr>
            <a:spLocks noGrp="1"/>
          </p:cNvSpPr>
          <p:nvPr>
            <p:ph type="dt" sz="half" idx="10"/>
          </p:nvPr>
        </p:nvSpPr>
        <p:spPr/>
        <p:txBody>
          <a:bodyPr/>
          <a:lstStyle/>
          <a:p>
            <a:fld id="{60F2BD66-A9C3-A946-A120-37BD8A32C493}" type="datetimeFigureOut">
              <a:rPr lang="en-US" smtClean="0"/>
              <a:t>5/4/26</a:t>
            </a:fld>
            <a:endParaRPr lang="en-US"/>
          </a:p>
        </p:txBody>
      </p:sp>
      <p:sp>
        <p:nvSpPr>
          <p:cNvPr id="5" name="Footer Placeholder 4">
            <a:extLst>
              <a:ext uri="{FF2B5EF4-FFF2-40B4-BE49-F238E27FC236}">
                <a16:creationId xmlns:a16="http://schemas.microsoft.com/office/drawing/2014/main" id="{20E4A28E-26F6-D1FE-3501-2F58CDA636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3B9A58-985F-F708-B40A-7C9BA71FBADA}"/>
              </a:ext>
            </a:extLst>
          </p:cNvPr>
          <p:cNvSpPr>
            <a:spLocks noGrp="1"/>
          </p:cNvSpPr>
          <p:nvPr>
            <p:ph type="sldNum" sz="quarter" idx="12"/>
          </p:nvPr>
        </p:nvSpPr>
        <p:spPr/>
        <p:txBody>
          <a:bodyPr/>
          <a:lstStyle/>
          <a:p>
            <a:fld id="{487F85EF-87A6-754B-8E89-1B19969306A1}" type="slidenum">
              <a:rPr lang="en-US" smtClean="0"/>
              <a:t>‹#›</a:t>
            </a:fld>
            <a:endParaRPr lang="en-US"/>
          </a:p>
        </p:txBody>
      </p:sp>
    </p:spTree>
    <p:extLst>
      <p:ext uri="{BB962C8B-B14F-4D97-AF65-F5344CB8AC3E}">
        <p14:creationId xmlns:p14="http://schemas.microsoft.com/office/powerpoint/2010/main" val="18807283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2859635-07A2-2DAE-A27F-20856988B890}"/>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142D132-A608-D690-E53E-7F249E5990D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2F6A1C6-2F9E-325B-CEAB-B9DA80BBA0C1}"/>
              </a:ext>
            </a:extLst>
          </p:cNvPr>
          <p:cNvSpPr>
            <a:spLocks noGrp="1"/>
          </p:cNvSpPr>
          <p:nvPr>
            <p:ph type="dt" sz="half" idx="10"/>
          </p:nvPr>
        </p:nvSpPr>
        <p:spPr/>
        <p:txBody>
          <a:bodyPr/>
          <a:lstStyle/>
          <a:p>
            <a:fld id="{60F2BD66-A9C3-A946-A120-37BD8A32C493}" type="datetimeFigureOut">
              <a:rPr lang="en-US" smtClean="0"/>
              <a:t>5/4/26</a:t>
            </a:fld>
            <a:endParaRPr lang="en-US"/>
          </a:p>
        </p:txBody>
      </p:sp>
      <p:sp>
        <p:nvSpPr>
          <p:cNvPr id="5" name="Footer Placeholder 4">
            <a:extLst>
              <a:ext uri="{FF2B5EF4-FFF2-40B4-BE49-F238E27FC236}">
                <a16:creationId xmlns:a16="http://schemas.microsoft.com/office/drawing/2014/main" id="{C371F96B-4B6E-5E27-9B59-568BF799EA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7D7CF4-3393-EACF-FABE-4CFE52A851F9}"/>
              </a:ext>
            </a:extLst>
          </p:cNvPr>
          <p:cNvSpPr>
            <a:spLocks noGrp="1"/>
          </p:cNvSpPr>
          <p:nvPr>
            <p:ph type="sldNum" sz="quarter" idx="12"/>
          </p:nvPr>
        </p:nvSpPr>
        <p:spPr/>
        <p:txBody>
          <a:bodyPr/>
          <a:lstStyle/>
          <a:p>
            <a:fld id="{487F85EF-87A6-754B-8E89-1B19969306A1}" type="slidenum">
              <a:rPr lang="en-US" smtClean="0"/>
              <a:t>‹#›</a:t>
            </a:fld>
            <a:endParaRPr lang="en-US"/>
          </a:p>
        </p:txBody>
      </p:sp>
    </p:spTree>
    <p:extLst>
      <p:ext uri="{BB962C8B-B14F-4D97-AF65-F5344CB8AC3E}">
        <p14:creationId xmlns:p14="http://schemas.microsoft.com/office/powerpoint/2010/main" val="4918413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B6A064-4616-7782-AC01-FAB11BD655E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E4CB760-2FCE-9D15-29DD-02C9BA0ED0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DC5965E-4804-B735-8ACB-E403BACD0F1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0F2BD66-A9C3-A946-A120-37BD8A32C493}" type="datetimeFigureOut">
              <a:rPr lang="en-US" smtClean="0"/>
              <a:t>5/4/26</a:t>
            </a:fld>
            <a:endParaRPr lang="en-US"/>
          </a:p>
        </p:txBody>
      </p:sp>
      <p:sp>
        <p:nvSpPr>
          <p:cNvPr id="5" name="Footer Placeholder 4">
            <a:extLst>
              <a:ext uri="{FF2B5EF4-FFF2-40B4-BE49-F238E27FC236}">
                <a16:creationId xmlns:a16="http://schemas.microsoft.com/office/drawing/2014/main" id="{C0CBC027-3E98-8A1F-C786-9027AC286A1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1EDA953-615E-A2D7-49A6-86BE952106B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7F85EF-87A6-754B-8E89-1B19969306A1}" type="slidenum">
              <a:rPr lang="en-US" smtClean="0"/>
              <a:t>‹#›</a:t>
            </a:fld>
            <a:endParaRPr lang="en-US"/>
          </a:p>
        </p:txBody>
      </p:sp>
    </p:spTree>
    <p:extLst>
      <p:ext uri="{BB962C8B-B14F-4D97-AF65-F5344CB8AC3E}">
        <p14:creationId xmlns:p14="http://schemas.microsoft.com/office/powerpoint/2010/main" val="3746745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github.com/danielcoles1989/dc_accelerator"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cepii.fr/CEPII/en/bdd_modele/bdd_modele_item.asp?id=8"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cepii.fr/DATA_DOWNLOAD/gravity/doc/Gravity_documentation.pdf"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54;p13">
            <a:extLst>
              <a:ext uri="{FF2B5EF4-FFF2-40B4-BE49-F238E27FC236}">
                <a16:creationId xmlns:a16="http://schemas.microsoft.com/office/drawing/2014/main" id="{79FD3C9A-C9F8-F56C-5203-A50F08D647A3}"/>
              </a:ext>
            </a:extLst>
          </p:cNvPr>
          <p:cNvSpPr txBox="1">
            <a:spLocks/>
          </p:cNvSpPr>
          <p:nvPr/>
        </p:nvSpPr>
        <p:spPr>
          <a:xfrm>
            <a:off x="1835700" y="2258291"/>
            <a:ext cx="8520600" cy="1170709"/>
          </a:xfrm>
          <a:prstGeom prst="rect">
            <a:avLst/>
          </a:prstGeom>
        </p:spPr>
        <p:txBody>
          <a:bodyPr spcFirstLastPara="1" vert="horz" wrap="square" lIns="91425" tIns="91425" rIns="91425" bIns="91425" rtlCol="0" anchor="b" anchorCtr="0">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en-GB" dirty="0"/>
              <a:t>Predicting Trade Flow</a:t>
            </a:r>
          </a:p>
        </p:txBody>
      </p:sp>
      <p:sp>
        <p:nvSpPr>
          <p:cNvPr id="5" name="Google Shape;55;p13">
            <a:extLst>
              <a:ext uri="{FF2B5EF4-FFF2-40B4-BE49-F238E27FC236}">
                <a16:creationId xmlns:a16="http://schemas.microsoft.com/office/drawing/2014/main" id="{B5945994-429B-5C87-EBA8-FC3E58C886B6}"/>
              </a:ext>
            </a:extLst>
          </p:cNvPr>
          <p:cNvSpPr txBox="1">
            <a:spLocks noGrp="1"/>
          </p:cNvSpPr>
          <p:nvPr>
            <p:ph type="subTitle" idx="1"/>
          </p:nvPr>
        </p:nvSpPr>
        <p:spPr>
          <a:xfrm>
            <a:off x="1835700" y="3429000"/>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dirty="0"/>
              <a:t>Using CEPII Gravity Dataset</a:t>
            </a:r>
            <a:endParaRPr dirty="0"/>
          </a:p>
        </p:txBody>
      </p:sp>
      <p:sp>
        <p:nvSpPr>
          <p:cNvPr id="7" name="TextBox 6">
            <a:extLst>
              <a:ext uri="{FF2B5EF4-FFF2-40B4-BE49-F238E27FC236}">
                <a16:creationId xmlns:a16="http://schemas.microsoft.com/office/drawing/2014/main" id="{FE9B3159-5759-6847-FB3D-57CEA289651E}"/>
              </a:ext>
            </a:extLst>
          </p:cNvPr>
          <p:cNvSpPr txBox="1"/>
          <p:nvPr/>
        </p:nvSpPr>
        <p:spPr>
          <a:xfrm>
            <a:off x="6096000" y="6089534"/>
            <a:ext cx="5478060" cy="369332"/>
          </a:xfrm>
          <a:prstGeom prst="rect">
            <a:avLst/>
          </a:prstGeom>
          <a:noFill/>
        </p:spPr>
        <p:txBody>
          <a:bodyPr wrap="square" rtlCol="0">
            <a:spAutoFit/>
          </a:bodyPr>
          <a:lstStyle/>
          <a:p>
            <a:r>
              <a:rPr lang="en-US" dirty="0">
                <a:hlinkClick r:id="rId2"/>
              </a:rPr>
              <a:t>https://</a:t>
            </a:r>
            <a:r>
              <a:rPr lang="en-US" dirty="0" err="1">
                <a:hlinkClick r:id="rId2"/>
              </a:rPr>
              <a:t>github.com</a:t>
            </a:r>
            <a:r>
              <a:rPr lang="en-US" dirty="0">
                <a:hlinkClick r:id="rId2"/>
              </a:rPr>
              <a:t>/danielcoles1989/</a:t>
            </a:r>
            <a:r>
              <a:rPr lang="en-US" dirty="0" err="1">
                <a:hlinkClick r:id="rId2"/>
              </a:rPr>
              <a:t>dc_accelerator</a:t>
            </a:r>
            <a:endParaRPr lang="en-US" dirty="0"/>
          </a:p>
        </p:txBody>
      </p:sp>
    </p:spTree>
    <p:extLst>
      <p:ext uri="{BB962C8B-B14F-4D97-AF65-F5344CB8AC3E}">
        <p14:creationId xmlns:p14="http://schemas.microsoft.com/office/powerpoint/2010/main" val="25803367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60;p14">
            <a:extLst>
              <a:ext uri="{FF2B5EF4-FFF2-40B4-BE49-F238E27FC236}">
                <a16:creationId xmlns:a16="http://schemas.microsoft.com/office/drawing/2014/main" id="{A3F991C1-54D2-46E5-F1C3-B0CFD50F1D2E}"/>
              </a:ext>
            </a:extLst>
          </p:cNvPr>
          <p:cNvSpPr txBox="1">
            <a:spLocks noGrp="1"/>
          </p:cNvSpPr>
          <p:nvPr>
            <p:ph type="title"/>
          </p:nvPr>
        </p:nvSpPr>
        <p:spPr>
          <a:xfrm>
            <a:off x="838200" y="681037"/>
            <a:ext cx="10515600" cy="1009651"/>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dirty="0"/>
              <a:t>    Business Question</a:t>
            </a:r>
            <a:endParaRPr dirty="0"/>
          </a:p>
        </p:txBody>
      </p:sp>
      <p:sp>
        <p:nvSpPr>
          <p:cNvPr id="3" name="Content Placeholder 2">
            <a:extLst>
              <a:ext uri="{FF2B5EF4-FFF2-40B4-BE49-F238E27FC236}">
                <a16:creationId xmlns:a16="http://schemas.microsoft.com/office/drawing/2014/main" id="{61891B7A-4FE6-E238-2ACC-6373E3C95D9A}"/>
              </a:ext>
            </a:extLst>
          </p:cNvPr>
          <p:cNvSpPr>
            <a:spLocks noGrp="1"/>
          </p:cNvSpPr>
          <p:nvPr>
            <p:ph idx="1"/>
          </p:nvPr>
        </p:nvSpPr>
        <p:spPr>
          <a:xfrm>
            <a:off x="838200" y="1825625"/>
            <a:ext cx="10515600" cy="791845"/>
          </a:xfrm>
        </p:spPr>
        <p:txBody>
          <a:bodyPr>
            <a:normAutofit/>
          </a:bodyPr>
          <a:lstStyle/>
          <a:p>
            <a:pPr marL="0" indent="0">
              <a:buNone/>
            </a:pPr>
            <a:r>
              <a:rPr lang="en-US" sz="2000" dirty="0"/>
              <a:t>Are we able to use various economic, geographic and political variables to try to predict trade flow between pairs of countries?</a:t>
            </a:r>
          </a:p>
        </p:txBody>
      </p:sp>
      <p:sp>
        <p:nvSpPr>
          <p:cNvPr id="5" name="TextBox 4">
            <a:extLst>
              <a:ext uri="{FF2B5EF4-FFF2-40B4-BE49-F238E27FC236}">
                <a16:creationId xmlns:a16="http://schemas.microsoft.com/office/drawing/2014/main" id="{B015ACA7-42B5-1671-480A-D8E101FF5195}"/>
              </a:ext>
            </a:extLst>
          </p:cNvPr>
          <p:cNvSpPr txBox="1"/>
          <p:nvPr/>
        </p:nvSpPr>
        <p:spPr>
          <a:xfrm>
            <a:off x="838200" y="2880360"/>
            <a:ext cx="9220200" cy="4247317"/>
          </a:xfrm>
          <a:prstGeom prst="rect">
            <a:avLst/>
          </a:prstGeom>
          <a:noFill/>
        </p:spPr>
        <p:txBody>
          <a:bodyPr wrap="square" rtlCol="0">
            <a:spAutoFit/>
          </a:bodyPr>
          <a:lstStyle/>
          <a:p>
            <a:r>
              <a:rPr lang="en-US" dirty="0"/>
              <a:t>Why:</a:t>
            </a:r>
          </a:p>
          <a:p>
            <a:pPr marL="285750" indent="-285750">
              <a:buFont typeface="Arial" panose="020B0604020202020204" pitchFamily="34" charset="0"/>
              <a:buChar char="•"/>
            </a:pPr>
            <a:r>
              <a:rPr lang="en-US" dirty="0"/>
              <a:t>Overcome large lags in reporting of official trade flow data.</a:t>
            </a:r>
          </a:p>
          <a:p>
            <a:pPr marL="285750" indent="-285750">
              <a:buFont typeface="Arial" panose="020B0604020202020204" pitchFamily="34" charset="0"/>
              <a:buChar char="•"/>
            </a:pPr>
            <a:r>
              <a:rPr lang="en-US" dirty="0"/>
              <a:t>Identify ‘underperforming’ trade routes to investigate and ease trade friction.</a:t>
            </a:r>
          </a:p>
          <a:p>
            <a:endParaRPr lang="en-US" dirty="0"/>
          </a:p>
          <a:p>
            <a:r>
              <a:rPr lang="en-US" dirty="0"/>
              <a:t>Type of Problem:</a:t>
            </a:r>
          </a:p>
          <a:p>
            <a:pPr marL="285750" indent="-285750">
              <a:buFont typeface="Arial" panose="020B0604020202020204" pitchFamily="34" charset="0"/>
              <a:buChar char="•"/>
            </a:pPr>
            <a:r>
              <a:rPr lang="en-US" dirty="0"/>
              <a:t>Regression</a:t>
            </a:r>
          </a:p>
          <a:p>
            <a:pPr marL="285750" indent="-285750">
              <a:buFont typeface="Arial" panose="020B0604020202020204" pitchFamily="34" charset="0"/>
              <a:buChar char="•"/>
            </a:pPr>
            <a:endParaRPr lang="en-US" dirty="0"/>
          </a:p>
          <a:p>
            <a:r>
              <a:rPr lang="en-US" dirty="0"/>
              <a:t>Measurement:</a:t>
            </a:r>
          </a:p>
          <a:p>
            <a:pPr marL="285750" indent="-285750">
              <a:buFont typeface="Arial" panose="020B0604020202020204" pitchFamily="34" charset="0"/>
              <a:buChar char="•"/>
            </a:pPr>
            <a:r>
              <a:rPr lang="en-US" dirty="0"/>
              <a:t>RMSE</a:t>
            </a:r>
          </a:p>
          <a:p>
            <a:pPr marL="285750" indent="-285750">
              <a:buFont typeface="Arial" panose="020B0604020202020204" pitchFamily="34" charset="0"/>
              <a:buChar char="•"/>
            </a:pPr>
            <a:endParaRPr lang="en-US" dirty="0"/>
          </a:p>
          <a:p>
            <a:r>
              <a:rPr lang="en-US" dirty="0"/>
              <a:t>Dataset:</a:t>
            </a:r>
          </a:p>
          <a:p>
            <a:pPr marL="285750" indent="-285750">
              <a:buFont typeface="Arial" panose="020B0604020202020204" pitchFamily="34" charset="0"/>
              <a:buChar char="•"/>
            </a:pPr>
            <a:r>
              <a:rPr lang="en-US" dirty="0"/>
              <a:t>CEPII </a:t>
            </a:r>
            <a:r>
              <a:rPr lang="en-US" dirty="0">
                <a:hlinkClick r:id="rId3"/>
              </a:rPr>
              <a:t>Gravity Dataset</a:t>
            </a:r>
            <a:endParaRPr lang="en-US" dirty="0"/>
          </a:p>
          <a:p>
            <a:endParaRPr lang="en-US" dirty="0"/>
          </a:p>
          <a:p>
            <a:pPr marL="285750" indent="-28575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30382722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0B670-636D-3A2C-D815-3A8B776070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3B1D8C-9653-AE60-07DF-576D05CB05DF}"/>
              </a:ext>
            </a:extLst>
          </p:cNvPr>
          <p:cNvSpPr>
            <a:spLocks noGrp="1"/>
          </p:cNvSpPr>
          <p:nvPr>
            <p:ph type="title"/>
          </p:nvPr>
        </p:nvSpPr>
        <p:spPr/>
        <p:txBody>
          <a:bodyPr/>
          <a:lstStyle/>
          <a:p>
            <a:pPr algn="ctr"/>
            <a:r>
              <a:rPr lang="en-US" dirty="0"/>
              <a:t>The CEPII Gravity Dataset</a:t>
            </a:r>
          </a:p>
        </p:txBody>
      </p:sp>
      <p:sp>
        <p:nvSpPr>
          <p:cNvPr id="3" name="Content Placeholder 2">
            <a:extLst>
              <a:ext uri="{FF2B5EF4-FFF2-40B4-BE49-F238E27FC236}">
                <a16:creationId xmlns:a16="http://schemas.microsoft.com/office/drawing/2014/main" id="{15929F2B-7264-BF5E-9291-070F865E50B5}"/>
              </a:ext>
            </a:extLst>
          </p:cNvPr>
          <p:cNvSpPr>
            <a:spLocks noGrp="1"/>
          </p:cNvSpPr>
          <p:nvPr>
            <p:ph idx="1"/>
          </p:nvPr>
        </p:nvSpPr>
        <p:spPr>
          <a:xfrm>
            <a:off x="838200" y="1965961"/>
            <a:ext cx="10515600" cy="4211002"/>
          </a:xfrm>
        </p:spPr>
        <p:txBody>
          <a:bodyPr/>
          <a:lstStyle/>
          <a:p>
            <a:pPr marL="0" indent="0">
              <a:buNone/>
            </a:pPr>
            <a:r>
              <a:rPr lang="en-US" sz="2400" u="sng" dirty="0"/>
              <a:t>Overview</a:t>
            </a:r>
          </a:p>
          <a:p>
            <a:pPr marL="0" indent="0">
              <a:buNone/>
            </a:pPr>
            <a:r>
              <a:rPr lang="en-US" sz="2000" dirty="0"/>
              <a:t>CEPII </a:t>
            </a:r>
            <a:r>
              <a:rPr lang="en-US" sz="2000" dirty="0">
                <a:hlinkClick r:id="rId3"/>
              </a:rPr>
              <a:t>Gravity dataset</a:t>
            </a:r>
            <a:r>
              <a:rPr lang="en-US" sz="2000" dirty="0"/>
              <a:t> contains various economic, geographic and political variables such as:</a:t>
            </a:r>
          </a:p>
          <a:p>
            <a:r>
              <a:rPr lang="en-US" sz="1800" b="1" i="1" dirty="0"/>
              <a:t>iso3</a:t>
            </a:r>
            <a:r>
              <a:rPr lang="en-US" sz="1800" dirty="0"/>
              <a:t>: ISO3 alphabetic code, unilateral</a:t>
            </a:r>
          </a:p>
          <a:p>
            <a:r>
              <a:rPr lang="en-US" sz="1800" b="1" i="1" dirty="0" err="1"/>
              <a:t>distw</a:t>
            </a:r>
            <a:r>
              <a:rPr lang="en-US" sz="1800" dirty="0" err="1"/>
              <a:t>_</a:t>
            </a:r>
            <a:r>
              <a:rPr lang="en-US" sz="1800" b="1" i="1" dirty="0" err="1"/>
              <a:t>harmonic</a:t>
            </a:r>
            <a:r>
              <a:rPr lang="en-US" sz="1800" dirty="0"/>
              <a:t>: population-weighted average distance between the most populated cities of each country</a:t>
            </a:r>
          </a:p>
          <a:p>
            <a:r>
              <a:rPr lang="en-US" sz="1800" b="1" i="1" dirty="0" err="1"/>
              <a:t>gdp</a:t>
            </a:r>
            <a:r>
              <a:rPr lang="en-US" sz="1800" dirty="0"/>
              <a:t>: GDP, in current thousands US$ (source WDI/Barbieri), unilateral</a:t>
            </a:r>
          </a:p>
          <a:p>
            <a:r>
              <a:rPr lang="en-GB" sz="1800" b="1" i="1" dirty="0"/>
              <a:t>col45</a:t>
            </a:r>
            <a:r>
              <a:rPr lang="en-GB" sz="1800" dirty="0"/>
              <a:t>: 1 if countries are or were in colonial relationship post 1945, bilateral</a:t>
            </a:r>
            <a:endParaRPr lang="en-US" sz="1800" dirty="0"/>
          </a:p>
          <a:p>
            <a:pPr marL="0" indent="0">
              <a:buNone/>
            </a:pPr>
            <a:r>
              <a:rPr lang="en-US" sz="2000" dirty="0"/>
              <a:t>Raw Dataset ranges from 1948 – 2021. Contains countries which no longer exist. Has:</a:t>
            </a:r>
          </a:p>
          <a:p>
            <a:r>
              <a:rPr lang="en-US" sz="1800" dirty="0"/>
              <a:t>Over 4,600,000 rows and 87 columns.</a:t>
            </a:r>
          </a:p>
          <a:p>
            <a:pPr marL="0" indent="0">
              <a:buNone/>
            </a:pPr>
            <a:r>
              <a:rPr lang="en-US" sz="1800" dirty="0"/>
              <a:t>Target Variable:</a:t>
            </a:r>
          </a:p>
          <a:p>
            <a:r>
              <a:rPr lang="en-US" sz="1800" b="1" u="sng" dirty="0" err="1"/>
              <a:t>tradeflow_baci</a:t>
            </a:r>
            <a:r>
              <a:rPr lang="en-US" sz="1800" dirty="0"/>
              <a:t>: </a:t>
            </a:r>
            <a:r>
              <a:rPr lang="en-GB" sz="1800" dirty="0"/>
              <a:t>Trade flow, 1000 current USD. Source: BACI, bilateral.</a:t>
            </a:r>
            <a:endParaRPr lang="en-US" sz="1800" dirty="0"/>
          </a:p>
          <a:p>
            <a:pPr marL="0" indent="0">
              <a:buNone/>
            </a:pPr>
            <a:endParaRPr lang="en-US" sz="1800" dirty="0"/>
          </a:p>
        </p:txBody>
      </p:sp>
    </p:spTree>
    <p:extLst>
      <p:ext uri="{BB962C8B-B14F-4D97-AF65-F5344CB8AC3E}">
        <p14:creationId xmlns:p14="http://schemas.microsoft.com/office/powerpoint/2010/main" val="21735602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9DCB3-B278-EF41-7EB2-D9EB33E7F3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5333BC-47EB-73D9-6B32-D476D14C123E}"/>
              </a:ext>
            </a:extLst>
          </p:cNvPr>
          <p:cNvSpPr>
            <a:spLocks noGrp="1"/>
          </p:cNvSpPr>
          <p:nvPr>
            <p:ph type="title"/>
          </p:nvPr>
        </p:nvSpPr>
        <p:spPr/>
        <p:txBody>
          <a:bodyPr/>
          <a:lstStyle/>
          <a:p>
            <a:pPr algn="ctr"/>
            <a:r>
              <a:rPr lang="en-US" dirty="0"/>
              <a:t>EDA – Independent Variables</a:t>
            </a:r>
          </a:p>
        </p:txBody>
      </p:sp>
      <p:pic>
        <p:nvPicPr>
          <p:cNvPr id="5" name="Picture 4">
            <a:extLst>
              <a:ext uri="{FF2B5EF4-FFF2-40B4-BE49-F238E27FC236}">
                <a16:creationId xmlns:a16="http://schemas.microsoft.com/office/drawing/2014/main" id="{08B636DC-9575-DC62-312F-28140B4FC6E8}"/>
              </a:ext>
            </a:extLst>
          </p:cNvPr>
          <p:cNvPicPr>
            <a:picLocks noChangeAspect="1"/>
          </p:cNvPicPr>
          <p:nvPr/>
        </p:nvPicPr>
        <p:blipFill>
          <a:blip r:embed="rId3"/>
          <a:stretch>
            <a:fillRect/>
          </a:stretch>
        </p:blipFill>
        <p:spPr>
          <a:xfrm>
            <a:off x="838200" y="2670853"/>
            <a:ext cx="7772400" cy="3527974"/>
          </a:xfrm>
          <a:prstGeom prst="rect">
            <a:avLst/>
          </a:prstGeom>
        </p:spPr>
      </p:pic>
      <p:sp>
        <p:nvSpPr>
          <p:cNvPr id="6" name="TextBox 5">
            <a:extLst>
              <a:ext uri="{FF2B5EF4-FFF2-40B4-BE49-F238E27FC236}">
                <a16:creationId xmlns:a16="http://schemas.microsoft.com/office/drawing/2014/main" id="{560EFD60-BEEB-5FD5-2D41-895AC598DF72}"/>
              </a:ext>
            </a:extLst>
          </p:cNvPr>
          <p:cNvSpPr txBox="1"/>
          <p:nvPr/>
        </p:nvSpPr>
        <p:spPr>
          <a:xfrm>
            <a:off x="1254034" y="1449977"/>
            <a:ext cx="8098972" cy="369332"/>
          </a:xfrm>
          <a:prstGeom prst="rect">
            <a:avLst/>
          </a:prstGeom>
          <a:noFill/>
        </p:spPr>
        <p:txBody>
          <a:bodyPr wrap="square" rtlCol="0">
            <a:spAutoFit/>
          </a:bodyPr>
          <a:lstStyle/>
          <a:p>
            <a:r>
              <a:rPr lang="en-US" dirty="0"/>
              <a:t>Dependent variable not normally distributed and contained lots of outliers.</a:t>
            </a:r>
          </a:p>
        </p:txBody>
      </p:sp>
      <p:sp>
        <p:nvSpPr>
          <p:cNvPr id="7" name="TextBox 6">
            <a:extLst>
              <a:ext uri="{FF2B5EF4-FFF2-40B4-BE49-F238E27FC236}">
                <a16:creationId xmlns:a16="http://schemas.microsoft.com/office/drawing/2014/main" id="{E1AAE8BD-5A12-FF41-E7C8-44EB25BBB878}"/>
              </a:ext>
            </a:extLst>
          </p:cNvPr>
          <p:cNvSpPr txBox="1"/>
          <p:nvPr/>
        </p:nvSpPr>
        <p:spPr>
          <a:xfrm>
            <a:off x="1417321" y="2073331"/>
            <a:ext cx="2034218" cy="369332"/>
          </a:xfrm>
          <a:prstGeom prst="rect">
            <a:avLst/>
          </a:prstGeom>
          <a:noFill/>
        </p:spPr>
        <p:txBody>
          <a:bodyPr wrap="square" rtlCol="0">
            <a:spAutoFit/>
          </a:bodyPr>
          <a:lstStyle/>
          <a:p>
            <a:r>
              <a:rPr lang="en-US" dirty="0" err="1"/>
              <a:t>gpd_o</a:t>
            </a:r>
            <a:r>
              <a:rPr lang="en-US" dirty="0"/>
              <a:t> Distribution</a:t>
            </a:r>
          </a:p>
        </p:txBody>
      </p:sp>
      <p:sp>
        <p:nvSpPr>
          <p:cNvPr id="3" name="TextBox 2">
            <a:extLst>
              <a:ext uri="{FF2B5EF4-FFF2-40B4-BE49-F238E27FC236}">
                <a16:creationId xmlns:a16="http://schemas.microsoft.com/office/drawing/2014/main" id="{652CFC02-726D-C89E-A7ED-B05CC52C4F46}"/>
              </a:ext>
            </a:extLst>
          </p:cNvPr>
          <p:cNvSpPr txBox="1"/>
          <p:nvPr/>
        </p:nvSpPr>
        <p:spPr>
          <a:xfrm>
            <a:off x="6671625" y="1980831"/>
            <a:ext cx="1789796" cy="923330"/>
          </a:xfrm>
          <a:prstGeom prst="rect">
            <a:avLst/>
          </a:prstGeom>
          <a:noFill/>
        </p:spPr>
        <p:txBody>
          <a:bodyPr wrap="square" rtlCol="0">
            <a:spAutoFit/>
          </a:bodyPr>
          <a:lstStyle/>
          <a:p>
            <a:r>
              <a:rPr lang="en-US" dirty="0"/>
              <a:t>Skew: 2.75</a:t>
            </a:r>
          </a:p>
          <a:p>
            <a:r>
              <a:rPr lang="en-US" dirty="0"/>
              <a:t>Kurtosis: 7.62</a:t>
            </a:r>
          </a:p>
          <a:p>
            <a:endParaRPr lang="en-US" dirty="0"/>
          </a:p>
        </p:txBody>
      </p:sp>
      <p:sp>
        <p:nvSpPr>
          <p:cNvPr id="4" name="TextBox 3">
            <a:extLst>
              <a:ext uri="{FF2B5EF4-FFF2-40B4-BE49-F238E27FC236}">
                <a16:creationId xmlns:a16="http://schemas.microsoft.com/office/drawing/2014/main" id="{4F574AF0-04AC-52F7-A7B9-3489EB8D9BF4}"/>
              </a:ext>
            </a:extLst>
          </p:cNvPr>
          <p:cNvSpPr txBox="1"/>
          <p:nvPr/>
        </p:nvSpPr>
        <p:spPr>
          <a:xfrm>
            <a:off x="4082603" y="2073331"/>
            <a:ext cx="1777284" cy="369332"/>
          </a:xfrm>
          <a:prstGeom prst="rect">
            <a:avLst/>
          </a:prstGeom>
          <a:noFill/>
        </p:spPr>
        <p:txBody>
          <a:bodyPr wrap="square" rtlCol="0">
            <a:spAutoFit/>
          </a:bodyPr>
          <a:lstStyle/>
          <a:p>
            <a:r>
              <a:rPr lang="en-US" dirty="0"/>
              <a:t>Box Plot</a:t>
            </a:r>
          </a:p>
        </p:txBody>
      </p:sp>
    </p:spTree>
    <p:extLst>
      <p:ext uri="{BB962C8B-B14F-4D97-AF65-F5344CB8AC3E}">
        <p14:creationId xmlns:p14="http://schemas.microsoft.com/office/powerpoint/2010/main" val="15344460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97B45-9FDE-8C43-A43F-5B96F845E6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964AED-49AA-5269-598F-FD25E9FADE0B}"/>
              </a:ext>
            </a:extLst>
          </p:cNvPr>
          <p:cNvSpPr>
            <a:spLocks noGrp="1"/>
          </p:cNvSpPr>
          <p:nvPr>
            <p:ph type="title"/>
          </p:nvPr>
        </p:nvSpPr>
        <p:spPr/>
        <p:txBody>
          <a:bodyPr/>
          <a:lstStyle/>
          <a:p>
            <a:pPr algn="ctr"/>
            <a:r>
              <a:rPr lang="en-US" dirty="0"/>
              <a:t>EDA – Independent Variables</a:t>
            </a:r>
          </a:p>
        </p:txBody>
      </p:sp>
      <p:sp>
        <p:nvSpPr>
          <p:cNvPr id="6" name="TextBox 5">
            <a:extLst>
              <a:ext uri="{FF2B5EF4-FFF2-40B4-BE49-F238E27FC236}">
                <a16:creationId xmlns:a16="http://schemas.microsoft.com/office/drawing/2014/main" id="{B36042F6-7471-3FC8-6091-E03D6C76C437}"/>
              </a:ext>
            </a:extLst>
          </p:cNvPr>
          <p:cNvSpPr txBox="1"/>
          <p:nvPr/>
        </p:nvSpPr>
        <p:spPr>
          <a:xfrm>
            <a:off x="1254034" y="1449977"/>
            <a:ext cx="8098972" cy="369332"/>
          </a:xfrm>
          <a:prstGeom prst="rect">
            <a:avLst/>
          </a:prstGeom>
          <a:noFill/>
        </p:spPr>
        <p:txBody>
          <a:bodyPr wrap="square" rtlCol="0">
            <a:spAutoFit/>
          </a:bodyPr>
          <a:lstStyle/>
          <a:p>
            <a:r>
              <a:rPr lang="en-US" dirty="0"/>
              <a:t>Log transformed </a:t>
            </a:r>
            <a:r>
              <a:rPr lang="en-US" dirty="0" err="1"/>
              <a:t>gdp</a:t>
            </a:r>
            <a:r>
              <a:rPr lang="en-US" dirty="0"/>
              <a:t>, population, gpd per capital. </a:t>
            </a:r>
          </a:p>
        </p:txBody>
      </p:sp>
      <p:sp>
        <p:nvSpPr>
          <p:cNvPr id="7" name="TextBox 6">
            <a:extLst>
              <a:ext uri="{FF2B5EF4-FFF2-40B4-BE49-F238E27FC236}">
                <a16:creationId xmlns:a16="http://schemas.microsoft.com/office/drawing/2014/main" id="{9655FBBA-4E85-CF64-06BD-119C998834EC}"/>
              </a:ext>
            </a:extLst>
          </p:cNvPr>
          <p:cNvSpPr txBox="1"/>
          <p:nvPr/>
        </p:nvSpPr>
        <p:spPr>
          <a:xfrm>
            <a:off x="1417321" y="2129209"/>
            <a:ext cx="2085734" cy="369332"/>
          </a:xfrm>
          <a:prstGeom prst="rect">
            <a:avLst/>
          </a:prstGeom>
          <a:noFill/>
        </p:spPr>
        <p:txBody>
          <a:bodyPr wrap="square" rtlCol="0">
            <a:spAutoFit/>
          </a:bodyPr>
          <a:lstStyle/>
          <a:p>
            <a:r>
              <a:rPr lang="en-US" dirty="0" err="1"/>
              <a:t>gpd_o</a:t>
            </a:r>
            <a:r>
              <a:rPr lang="en-US" dirty="0"/>
              <a:t> Distribution</a:t>
            </a:r>
          </a:p>
        </p:txBody>
      </p:sp>
      <p:pic>
        <p:nvPicPr>
          <p:cNvPr id="3" name="Picture 2">
            <a:extLst>
              <a:ext uri="{FF2B5EF4-FFF2-40B4-BE49-F238E27FC236}">
                <a16:creationId xmlns:a16="http://schemas.microsoft.com/office/drawing/2014/main" id="{EE32216F-2EBE-090D-D053-FB4C99F269F9}"/>
              </a:ext>
            </a:extLst>
          </p:cNvPr>
          <p:cNvPicPr>
            <a:picLocks noChangeAspect="1"/>
          </p:cNvPicPr>
          <p:nvPr/>
        </p:nvPicPr>
        <p:blipFill>
          <a:blip r:embed="rId3"/>
          <a:stretch>
            <a:fillRect/>
          </a:stretch>
        </p:blipFill>
        <p:spPr>
          <a:xfrm>
            <a:off x="979714" y="2723325"/>
            <a:ext cx="7772400" cy="3639544"/>
          </a:xfrm>
          <a:prstGeom prst="rect">
            <a:avLst/>
          </a:prstGeom>
        </p:spPr>
      </p:pic>
      <p:sp>
        <p:nvSpPr>
          <p:cNvPr id="4" name="TextBox 3">
            <a:extLst>
              <a:ext uri="{FF2B5EF4-FFF2-40B4-BE49-F238E27FC236}">
                <a16:creationId xmlns:a16="http://schemas.microsoft.com/office/drawing/2014/main" id="{A52ADAB7-E02B-1DE6-58B6-FDFC1C73B594}"/>
              </a:ext>
            </a:extLst>
          </p:cNvPr>
          <p:cNvSpPr txBox="1"/>
          <p:nvPr/>
        </p:nvSpPr>
        <p:spPr>
          <a:xfrm>
            <a:off x="6632620" y="1964602"/>
            <a:ext cx="1918952" cy="646331"/>
          </a:xfrm>
          <a:prstGeom prst="rect">
            <a:avLst/>
          </a:prstGeom>
          <a:noFill/>
        </p:spPr>
        <p:txBody>
          <a:bodyPr wrap="square" rtlCol="0">
            <a:spAutoFit/>
          </a:bodyPr>
          <a:lstStyle/>
          <a:p>
            <a:r>
              <a:rPr lang="en-US" dirty="0"/>
              <a:t>Skew: -0.34</a:t>
            </a:r>
          </a:p>
          <a:p>
            <a:r>
              <a:rPr lang="en-US" dirty="0"/>
              <a:t>Kurtosis: -0.37</a:t>
            </a:r>
          </a:p>
        </p:txBody>
      </p:sp>
      <p:sp>
        <p:nvSpPr>
          <p:cNvPr id="5" name="TextBox 4">
            <a:extLst>
              <a:ext uri="{FF2B5EF4-FFF2-40B4-BE49-F238E27FC236}">
                <a16:creationId xmlns:a16="http://schemas.microsoft.com/office/drawing/2014/main" id="{FECB39A7-E23F-24A4-0E38-81C1B30BFA57}"/>
              </a:ext>
            </a:extLst>
          </p:cNvPr>
          <p:cNvSpPr txBox="1"/>
          <p:nvPr/>
        </p:nvSpPr>
        <p:spPr>
          <a:xfrm>
            <a:off x="4198513" y="2129209"/>
            <a:ext cx="1700011" cy="369332"/>
          </a:xfrm>
          <a:prstGeom prst="rect">
            <a:avLst/>
          </a:prstGeom>
          <a:noFill/>
        </p:spPr>
        <p:txBody>
          <a:bodyPr wrap="square" rtlCol="0">
            <a:spAutoFit/>
          </a:bodyPr>
          <a:lstStyle/>
          <a:p>
            <a:r>
              <a:rPr lang="en-US" dirty="0"/>
              <a:t>Box Plot</a:t>
            </a:r>
          </a:p>
        </p:txBody>
      </p:sp>
    </p:spTree>
    <p:extLst>
      <p:ext uri="{BB962C8B-B14F-4D97-AF65-F5344CB8AC3E}">
        <p14:creationId xmlns:p14="http://schemas.microsoft.com/office/powerpoint/2010/main" val="17448244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8359C-440F-1C91-EF2D-0B0F44CD49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9A9CC3-2228-9C69-A18D-ABFDF577010E}"/>
              </a:ext>
            </a:extLst>
          </p:cNvPr>
          <p:cNvSpPr>
            <a:spLocks noGrp="1"/>
          </p:cNvSpPr>
          <p:nvPr>
            <p:ph type="title"/>
          </p:nvPr>
        </p:nvSpPr>
        <p:spPr/>
        <p:txBody>
          <a:bodyPr/>
          <a:lstStyle/>
          <a:p>
            <a:pPr algn="ctr"/>
            <a:r>
              <a:rPr lang="en-US" dirty="0"/>
              <a:t>EDA – Dependent Variable</a:t>
            </a:r>
          </a:p>
        </p:txBody>
      </p:sp>
      <p:sp>
        <p:nvSpPr>
          <p:cNvPr id="6" name="TextBox 5">
            <a:extLst>
              <a:ext uri="{FF2B5EF4-FFF2-40B4-BE49-F238E27FC236}">
                <a16:creationId xmlns:a16="http://schemas.microsoft.com/office/drawing/2014/main" id="{7011D63B-BBF4-7AE8-A51F-276A67B4F5E3}"/>
              </a:ext>
            </a:extLst>
          </p:cNvPr>
          <p:cNvSpPr txBox="1"/>
          <p:nvPr/>
        </p:nvSpPr>
        <p:spPr>
          <a:xfrm>
            <a:off x="1254034" y="1506022"/>
            <a:ext cx="8098972" cy="369332"/>
          </a:xfrm>
          <a:prstGeom prst="rect">
            <a:avLst/>
          </a:prstGeom>
          <a:noFill/>
        </p:spPr>
        <p:txBody>
          <a:bodyPr wrap="square" rtlCol="0">
            <a:spAutoFit/>
          </a:bodyPr>
          <a:lstStyle/>
          <a:p>
            <a:r>
              <a:rPr lang="en-US" dirty="0"/>
              <a:t>Log transformed </a:t>
            </a:r>
            <a:r>
              <a:rPr lang="en-US" dirty="0" err="1"/>
              <a:t>tradeflow_baci</a:t>
            </a:r>
            <a:r>
              <a:rPr lang="en-US" dirty="0"/>
              <a:t> to explain outliers and skew.</a:t>
            </a:r>
          </a:p>
        </p:txBody>
      </p:sp>
      <p:sp>
        <p:nvSpPr>
          <p:cNvPr id="7" name="TextBox 6">
            <a:extLst>
              <a:ext uri="{FF2B5EF4-FFF2-40B4-BE49-F238E27FC236}">
                <a16:creationId xmlns:a16="http://schemas.microsoft.com/office/drawing/2014/main" id="{60CDA245-FFA0-2921-7E17-514D183E8BCC}"/>
              </a:ext>
            </a:extLst>
          </p:cNvPr>
          <p:cNvSpPr txBox="1"/>
          <p:nvPr/>
        </p:nvSpPr>
        <p:spPr>
          <a:xfrm>
            <a:off x="1254034" y="2076994"/>
            <a:ext cx="2068715" cy="646330"/>
          </a:xfrm>
          <a:prstGeom prst="rect">
            <a:avLst/>
          </a:prstGeom>
          <a:noFill/>
        </p:spPr>
        <p:txBody>
          <a:bodyPr wrap="square" rtlCol="0">
            <a:spAutoFit/>
          </a:bodyPr>
          <a:lstStyle/>
          <a:p>
            <a:r>
              <a:rPr lang="en-US" dirty="0" err="1"/>
              <a:t>tradeflow_baci</a:t>
            </a:r>
            <a:r>
              <a:rPr lang="en-US" dirty="0"/>
              <a:t> Distribution</a:t>
            </a:r>
          </a:p>
        </p:txBody>
      </p:sp>
      <p:pic>
        <p:nvPicPr>
          <p:cNvPr id="3" name="Picture 2">
            <a:extLst>
              <a:ext uri="{FF2B5EF4-FFF2-40B4-BE49-F238E27FC236}">
                <a16:creationId xmlns:a16="http://schemas.microsoft.com/office/drawing/2014/main" id="{5BADBDEC-30BC-1D43-5EC2-DA68F539297B}"/>
              </a:ext>
            </a:extLst>
          </p:cNvPr>
          <p:cNvPicPr>
            <a:picLocks noChangeAspect="1"/>
          </p:cNvPicPr>
          <p:nvPr/>
        </p:nvPicPr>
        <p:blipFill>
          <a:blip r:embed="rId3"/>
          <a:stretch>
            <a:fillRect/>
          </a:stretch>
        </p:blipFill>
        <p:spPr>
          <a:xfrm>
            <a:off x="838200" y="2723325"/>
            <a:ext cx="7772400" cy="3577946"/>
          </a:xfrm>
          <a:prstGeom prst="rect">
            <a:avLst/>
          </a:prstGeom>
        </p:spPr>
      </p:pic>
      <p:sp>
        <p:nvSpPr>
          <p:cNvPr id="4" name="TextBox 3">
            <a:extLst>
              <a:ext uri="{FF2B5EF4-FFF2-40B4-BE49-F238E27FC236}">
                <a16:creationId xmlns:a16="http://schemas.microsoft.com/office/drawing/2014/main" id="{87735067-2FAC-2810-E19C-135B66A9D1C6}"/>
              </a:ext>
            </a:extLst>
          </p:cNvPr>
          <p:cNvSpPr txBox="1"/>
          <p:nvPr/>
        </p:nvSpPr>
        <p:spPr>
          <a:xfrm>
            <a:off x="6542469" y="1976174"/>
            <a:ext cx="1931831" cy="646331"/>
          </a:xfrm>
          <a:prstGeom prst="rect">
            <a:avLst/>
          </a:prstGeom>
          <a:noFill/>
        </p:spPr>
        <p:txBody>
          <a:bodyPr wrap="square" rtlCol="0">
            <a:spAutoFit/>
          </a:bodyPr>
          <a:lstStyle/>
          <a:p>
            <a:r>
              <a:rPr lang="en-US" dirty="0"/>
              <a:t>Skew: 4.15</a:t>
            </a:r>
          </a:p>
          <a:p>
            <a:r>
              <a:rPr lang="en-US" dirty="0"/>
              <a:t>Kurtosis: 18.89</a:t>
            </a:r>
          </a:p>
        </p:txBody>
      </p:sp>
      <p:sp>
        <p:nvSpPr>
          <p:cNvPr id="5" name="TextBox 4">
            <a:extLst>
              <a:ext uri="{FF2B5EF4-FFF2-40B4-BE49-F238E27FC236}">
                <a16:creationId xmlns:a16="http://schemas.microsoft.com/office/drawing/2014/main" id="{D44B4E94-4193-74A4-4366-14218784673D}"/>
              </a:ext>
            </a:extLst>
          </p:cNvPr>
          <p:cNvSpPr txBox="1"/>
          <p:nvPr/>
        </p:nvSpPr>
        <p:spPr>
          <a:xfrm>
            <a:off x="4095482" y="2076994"/>
            <a:ext cx="1828800" cy="369332"/>
          </a:xfrm>
          <a:prstGeom prst="rect">
            <a:avLst/>
          </a:prstGeom>
          <a:noFill/>
        </p:spPr>
        <p:txBody>
          <a:bodyPr wrap="square" rtlCol="0">
            <a:spAutoFit/>
          </a:bodyPr>
          <a:lstStyle/>
          <a:p>
            <a:r>
              <a:rPr lang="en-US" dirty="0"/>
              <a:t>Box Plot</a:t>
            </a:r>
          </a:p>
        </p:txBody>
      </p:sp>
    </p:spTree>
    <p:extLst>
      <p:ext uri="{BB962C8B-B14F-4D97-AF65-F5344CB8AC3E}">
        <p14:creationId xmlns:p14="http://schemas.microsoft.com/office/powerpoint/2010/main" val="11582042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82656-0EB2-6195-B78F-AF5FEAD6B2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098BCF-F1C3-D85E-49B6-9D6F68F93D9D}"/>
              </a:ext>
            </a:extLst>
          </p:cNvPr>
          <p:cNvSpPr>
            <a:spLocks noGrp="1"/>
          </p:cNvSpPr>
          <p:nvPr>
            <p:ph type="title"/>
          </p:nvPr>
        </p:nvSpPr>
        <p:spPr/>
        <p:txBody>
          <a:bodyPr/>
          <a:lstStyle/>
          <a:p>
            <a:pPr algn="ctr"/>
            <a:r>
              <a:rPr lang="en-US" dirty="0"/>
              <a:t>EDA – Dependent Variable</a:t>
            </a:r>
          </a:p>
        </p:txBody>
      </p:sp>
      <p:sp>
        <p:nvSpPr>
          <p:cNvPr id="6" name="TextBox 5">
            <a:extLst>
              <a:ext uri="{FF2B5EF4-FFF2-40B4-BE49-F238E27FC236}">
                <a16:creationId xmlns:a16="http://schemas.microsoft.com/office/drawing/2014/main" id="{1E48B268-AEDB-6BA9-C7E2-5BB9315F35E6}"/>
              </a:ext>
            </a:extLst>
          </p:cNvPr>
          <p:cNvSpPr txBox="1"/>
          <p:nvPr/>
        </p:nvSpPr>
        <p:spPr>
          <a:xfrm>
            <a:off x="1254034" y="1449977"/>
            <a:ext cx="8098972" cy="369332"/>
          </a:xfrm>
          <a:prstGeom prst="rect">
            <a:avLst/>
          </a:prstGeom>
          <a:noFill/>
        </p:spPr>
        <p:txBody>
          <a:bodyPr wrap="square" rtlCol="0">
            <a:spAutoFit/>
          </a:bodyPr>
          <a:lstStyle/>
          <a:p>
            <a:r>
              <a:rPr lang="en-US" dirty="0"/>
              <a:t>Log transformed </a:t>
            </a:r>
            <a:r>
              <a:rPr lang="en-US" dirty="0" err="1"/>
              <a:t>gdp</a:t>
            </a:r>
            <a:r>
              <a:rPr lang="en-US" dirty="0"/>
              <a:t>, population, gpd per capital </a:t>
            </a:r>
            <a:r>
              <a:rPr lang="en-US" dirty="0" err="1"/>
              <a:t>tradeflow</a:t>
            </a:r>
            <a:r>
              <a:rPr lang="en-US" dirty="0"/>
              <a:t>. </a:t>
            </a:r>
          </a:p>
        </p:txBody>
      </p:sp>
      <p:sp>
        <p:nvSpPr>
          <p:cNvPr id="7" name="TextBox 6">
            <a:extLst>
              <a:ext uri="{FF2B5EF4-FFF2-40B4-BE49-F238E27FC236}">
                <a16:creationId xmlns:a16="http://schemas.microsoft.com/office/drawing/2014/main" id="{A051ECE0-E6ED-627F-5E5D-C9222D4DD4E7}"/>
              </a:ext>
            </a:extLst>
          </p:cNvPr>
          <p:cNvSpPr txBox="1"/>
          <p:nvPr/>
        </p:nvSpPr>
        <p:spPr>
          <a:xfrm>
            <a:off x="1254034" y="2000588"/>
            <a:ext cx="2120231" cy="646331"/>
          </a:xfrm>
          <a:prstGeom prst="rect">
            <a:avLst/>
          </a:prstGeom>
          <a:noFill/>
        </p:spPr>
        <p:txBody>
          <a:bodyPr wrap="square" rtlCol="0">
            <a:spAutoFit/>
          </a:bodyPr>
          <a:lstStyle/>
          <a:p>
            <a:r>
              <a:rPr lang="en-US" dirty="0" err="1"/>
              <a:t>tradeflow_baci</a:t>
            </a:r>
            <a:endParaRPr lang="en-US" dirty="0"/>
          </a:p>
          <a:p>
            <a:r>
              <a:rPr lang="en-US" dirty="0"/>
              <a:t>Distribution</a:t>
            </a:r>
          </a:p>
        </p:txBody>
      </p:sp>
      <p:pic>
        <p:nvPicPr>
          <p:cNvPr id="4" name="Picture 3">
            <a:extLst>
              <a:ext uri="{FF2B5EF4-FFF2-40B4-BE49-F238E27FC236}">
                <a16:creationId xmlns:a16="http://schemas.microsoft.com/office/drawing/2014/main" id="{05B1FAB7-ED68-9C4D-A1E2-C6DE219373FB}"/>
              </a:ext>
            </a:extLst>
          </p:cNvPr>
          <p:cNvPicPr>
            <a:picLocks noChangeAspect="1"/>
          </p:cNvPicPr>
          <p:nvPr/>
        </p:nvPicPr>
        <p:blipFill>
          <a:blip r:embed="rId3"/>
          <a:stretch>
            <a:fillRect/>
          </a:stretch>
        </p:blipFill>
        <p:spPr>
          <a:xfrm>
            <a:off x="838200" y="2646919"/>
            <a:ext cx="7772400" cy="3633706"/>
          </a:xfrm>
          <a:prstGeom prst="rect">
            <a:avLst/>
          </a:prstGeom>
        </p:spPr>
      </p:pic>
      <p:sp>
        <p:nvSpPr>
          <p:cNvPr id="3" name="TextBox 2">
            <a:extLst>
              <a:ext uri="{FF2B5EF4-FFF2-40B4-BE49-F238E27FC236}">
                <a16:creationId xmlns:a16="http://schemas.microsoft.com/office/drawing/2014/main" id="{DEF5CB7D-1641-FAE6-6B07-9E48A88CABD4}"/>
              </a:ext>
            </a:extLst>
          </p:cNvPr>
          <p:cNvSpPr txBox="1"/>
          <p:nvPr/>
        </p:nvSpPr>
        <p:spPr>
          <a:xfrm>
            <a:off x="6478073" y="1978218"/>
            <a:ext cx="2009104" cy="646331"/>
          </a:xfrm>
          <a:prstGeom prst="rect">
            <a:avLst/>
          </a:prstGeom>
          <a:noFill/>
        </p:spPr>
        <p:txBody>
          <a:bodyPr wrap="square" rtlCol="0">
            <a:spAutoFit/>
          </a:bodyPr>
          <a:lstStyle/>
          <a:p>
            <a:r>
              <a:rPr lang="en-US" dirty="0"/>
              <a:t>Skew: -0.11</a:t>
            </a:r>
          </a:p>
          <a:p>
            <a:r>
              <a:rPr lang="en-US" dirty="0"/>
              <a:t>Kurtosis: -0.94</a:t>
            </a:r>
          </a:p>
        </p:txBody>
      </p:sp>
      <p:sp>
        <p:nvSpPr>
          <p:cNvPr id="5" name="TextBox 4">
            <a:extLst>
              <a:ext uri="{FF2B5EF4-FFF2-40B4-BE49-F238E27FC236}">
                <a16:creationId xmlns:a16="http://schemas.microsoft.com/office/drawing/2014/main" id="{922087E2-2D55-FC61-DF41-ED511B8EE07A}"/>
              </a:ext>
            </a:extLst>
          </p:cNvPr>
          <p:cNvSpPr txBox="1"/>
          <p:nvPr/>
        </p:nvSpPr>
        <p:spPr>
          <a:xfrm>
            <a:off x="3928056" y="2000588"/>
            <a:ext cx="2021983" cy="369332"/>
          </a:xfrm>
          <a:prstGeom prst="rect">
            <a:avLst/>
          </a:prstGeom>
          <a:noFill/>
        </p:spPr>
        <p:txBody>
          <a:bodyPr wrap="square" rtlCol="0">
            <a:spAutoFit/>
          </a:bodyPr>
          <a:lstStyle/>
          <a:p>
            <a:r>
              <a:rPr lang="en-US" dirty="0"/>
              <a:t>Box Plot</a:t>
            </a:r>
          </a:p>
        </p:txBody>
      </p:sp>
    </p:spTree>
    <p:extLst>
      <p:ext uri="{BB962C8B-B14F-4D97-AF65-F5344CB8AC3E}">
        <p14:creationId xmlns:p14="http://schemas.microsoft.com/office/powerpoint/2010/main" val="1126741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50BE8-F5CF-8FE1-65D2-3BCD7AA600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D9EC92-DFEF-569A-9071-DD8811083DA8}"/>
              </a:ext>
            </a:extLst>
          </p:cNvPr>
          <p:cNvSpPr>
            <a:spLocks noGrp="1"/>
          </p:cNvSpPr>
          <p:nvPr>
            <p:ph type="title"/>
          </p:nvPr>
        </p:nvSpPr>
        <p:spPr/>
        <p:txBody>
          <a:bodyPr/>
          <a:lstStyle/>
          <a:p>
            <a:pPr algn="ctr"/>
            <a:r>
              <a:rPr lang="en-US" dirty="0"/>
              <a:t>EDA – All Variables</a:t>
            </a:r>
          </a:p>
        </p:txBody>
      </p:sp>
      <p:sp>
        <p:nvSpPr>
          <p:cNvPr id="6" name="TextBox 5">
            <a:extLst>
              <a:ext uri="{FF2B5EF4-FFF2-40B4-BE49-F238E27FC236}">
                <a16:creationId xmlns:a16="http://schemas.microsoft.com/office/drawing/2014/main" id="{70F3002B-67E8-E0DA-E06F-C2D63F8A6814}"/>
              </a:ext>
            </a:extLst>
          </p:cNvPr>
          <p:cNvSpPr txBox="1"/>
          <p:nvPr/>
        </p:nvSpPr>
        <p:spPr>
          <a:xfrm>
            <a:off x="1254034" y="1449977"/>
            <a:ext cx="8098972" cy="646331"/>
          </a:xfrm>
          <a:prstGeom prst="rect">
            <a:avLst/>
          </a:prstGeom>
          <a:noFill/>
        </p:spPr>
        <p:txBody>
          <a:bodyPr wrap="square" rtlCol="0">
            <a:spAutoFit/>
          </a:bodyPr>
          <a:lstStyle/>
          <a:p>
            <a:r>
              <a:rPr lang="en-US" dirty="0"/>
              <a:t>I also investigate correlation between all variables. I noted the correlation between different dependent variables.</a:t>
            </a:r>
          </a:p>
        </p:txBody>
      </p:sp>
      <p:sp>
        <p:nvSpPr>
          <p:cNvPr id="5" name="TextBox 4">
            <a:extLst>
              <a:ext uri="{FF2B5EF4-FFF2-40B4-BE49-F238E27FC236}">
                <a16:creationId xmlns:a16="http://schemas.microsoft.com/office/drawing/2014/main" id="{4710CC1E-443F-89FE-7EFF-17C4F7DC074B}"/>
              </a:ext>
            </a:extLst>
          </p:cNvPr>
          <p:cNvSpPr txBox="1"/>
          <p:nvPr/>
        </p:nvSpPr>
        <p:spPr>
          <a:xfrm>
            <a:off x="1254033" y="5773783"/>
            <a:ext cx="8725989" cy="646331"/>
          </a:xfrm>
          <a:prstGeom prst="rect">
            <a:avLst/>
          </a:prstGeom>
          <a:noFill/>
        </p:spPr>
        <p:txBody>
          <a:bodyPr wrap="square" rtlCol="0">
            <a:spAutoFit/>
          </a:bodyPr>
          <a:lstStyle/>
          <a:p>
            <a:r>
              <a:rPr lang="en-US" dirty="0"/>
              <a:t>Took variables which were over a threshold of +/- 0.2 </a:t>
            </a:r>
            <a:r>
              <a:rPr lang="en-US" dirty="0" err="1"/>
              <a:t>pearson’s</a:t>
            </a:r>
            <a:r>
              <a:rPr lang="en-US" dirty="0"/>
              <a:t> correlation to the target variable.</a:t>
            </a:r>
          </a:p>
        </p:txBody>
      </p:sp>
      <p:pic>
        <p:nvPicPr>
          <p:cNvPr id="1026" name="Picture 2">
            <a:extLst>
              <a:ext uri="{FF2B5EF4-FFF2-40B4-BE49-F238E27FC236}">
                <a16:creationId xmlns:a16="http://schemas.microsoft.com/office/drawing/2014/main" id="{9A013BF8-475F-1375-C9F3-0A05A3A6B9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0017" y="2096308"/>
            <a:ext cx="6709490" cy="3677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64642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722A9-1018-EB63-0A11-4C9854FB52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67112B-67FE-A5A3-713F-B97FFE186A1B}"/>
              </a:ext>
            </a:extLst>
          </p:cNvPr>
          <p:cNvSpPr>
            <a:spLocks noGrp="1"/>
          </p:cNvSpPr>
          <p:nvPr>
            <p:ph type="title"/>
          </p:nvPr>
        </p:nvSpPr>
        <p:spPr/>
        <p:txBody>
          <a:bodyPr/>
          <a:lstStyle/>
          <a:p>
            <a:pPr algn="ctr"/>
            <a:r>
              <a:rPr lang="en-US" dirty="0"/>
              <a:t>Null Values</a:t>
            </a:r>
          </a:p>
        </p:txBody>
      </p:sp>
      <p:sp>
        <p:nvSpPr>
          <p:cNvPr id="3" name="Content Placeholder 2">
            <a:extLst>
              <a:ext uri="{FF2B5EF4-FFF2-40B4-BE49-F238E27FC236}">
                <a16:creationId xmlns:a16="http://schemas.microsoft.com/office/drawing/2014/main" id="{1D617A79-4C25-D8B6-4200-0AECF713DAD5}"/>
              </a:ext>
            </a:extLst>
          </p:cNvPr>
          <p:cNvSpPr>
            <a:spLocks noGrp="1"/>
          </p:cNvSpPr>
          <p:nvPr>
            <p:ph idx="1"/>
          </p:nvPr>
        </p:nvSpPr>
        <p:spPr>
          <a:xfrm>
            <a:off x="838200" y="1825625"/>
            <a:ext cx="10515600" cy="2584143"/>
          </a:xfrm>
        </p:spPr>
        <p:txBody>
          <a:bodyPr/>
          <a:lstStyle/>
          <a:p>
            <a:pPr marL="0" indent="0">
              <a:buNone/>
            </a:pPr>
            <a:r>
              <a:rPr lang="en-US" sz="2000" dirty="0"/>
              <a:t>Null values are introduced by 2 ‘main’ methods:</a:t>
            </a:r>
          </a:p>
          <a:p>
            <a:pPr marL="514350" indent="-514350">
              <a:buFont typeface="+mj-lt"/>
              <a:buAutoNum type="arabicPeriod"/>
            </a:pPr>
            <a:r>
              <a:rPr lang="en-US" sz="2000" dirty="0"/>
              <a:t>Countries no longer existing or not releasing data.</a:t>
            </a:r>
          </a:p>
          <a:p>
            <a:pPr marL="514350" indent="-514350">
              <a:buFont typeface="+mj-lt"/>
              <a:buAutoNum type="arabicPeriod"/>
            </a:pPr>
            <a:r>
              <a:rPr lang="en-US" sz="2000" dirty="0"/>
              <a:t>No trade between countries.</a:t>
            </a:r>
          </a:p>
          <a:p>
            <a:pPr marL="0" indent="0">
              <a:buNone/>
            </a:pPr>
            <a:r>
              <a:rPr lang="en-US" sz="2000" dirty="0"/>
              <a:t>NULLS can be genuine absence of data OR 0 as a result it was hard to try to distinguish between the two. Because of this Nulls where dropped, which impacted smaller nations more than larger ones. Therefore, our model could only accurately predict trade flow of bigger nations, or nations that already have a trading connection.</a:t>
            </a:r>
          </a:p>
          <a:p>
            <a:pPr marL="0" indent="0">
              <a:buNone/>
            </a:pPr>
            <a:endParaRPr lang="en-US" sz="2000" dirty="0"/>
          </a:p>
          <a:p>
            <a:pPr marL="0" indent="0">
              <a:buNone/>
            </a:pPr>
            <a:endParaRPr lang="en-US" dirty="0"/>
          </a:p>
        </p:txBody>
      </p:sp>
      <p:graphicFrame>
        <p:nvGraphicFramePr>
          <p:cNvPr id="4" name="Table 3">
            <a:extLst>
              <a:ext uri="{FF2B5EF4-FFF2-40B4-BE49-F238E27FC236}">
                <a16:creationId xmlns:a16="http://schemas.microsoft.com/office/drawing/2014/main" id="{2B333BA8-4DB7-FE5C-A9E9-E8F85EA6F9D9}"/>
              </a:ext>
            </a:extLst>
          </p:cNvPr>
          <p:cNvGraphicFramePr>
            <a:graphicFrameLocks noGrp="1"/>
          </p:cNvGraphicFramePr>
          <p:nvPr>
            <p:extLst>
              <p:ext uri="{D42A27DB-BD31-4B8C-83A1-F6EECF244321}">
                <p14:modId xmlns:p14="http://schemas.microsoft.com/office/powerpoint/2010/main" val="4253242972"/>
              </p:ext>
            </p:extLst>
          </p:nvPr>
        </p:nvGraphicFramePr>
        <p:xfrm>
          <a:off x="1861984" y="4267835"/>
          <a:ext cx="8468032" cy="2225040"/>
        </p:xfrm>
        <a:graphic>
          <a:graphicData uri="http://schemas.openxmlformats.org/drawingml/2006/table">
            <a:tbl>
              <a:tblPr firstRow="1" bandRow="1">
                <a:tableStyleId>{5C22544A-7EE6-4342-B048-85BDC9FD1C3A}</a:tableStyleId>
              </a:tblPr>
              <a:tblGrid>
                <a:gridCol w="4234016">
                  <a:extLst>
                    <a:ext uri="{9D8B030D-6E8A-4147-A177-3AD203B41FA5}">
                      <a16:colId xmlns:a16="http://schemas.microsoft.com/office/drawing/2014/main" val="2784060937"/>
                    </a:ext>
                  </a:extLst>
                </a:gridCol>
                <a:gridCol w="4234016">
                  <a:extLst>
                    <a:ext uri="{9D8B030D-6E8A-4147-A177-3AD203B41FA5}">
                      <a16:colId xmlns:a16="http://schemas.microsoft.com/office/drawing/2014/main" val="734400676"/>
                    </a:ext>
                  </a:extLst>
                </a:gridCol>
              </a:tblGrid>
              <a:tr h="370840">
                <a:tc>
                  <a:txBody>
                    <a:bodyPr/>
                    <a:lstStyle/>
                    <a:p>
                      <a:r>
                        <a:rPr lang="en-US" dirty="0"/>
                        <a:t>Column Name</a:t>
                      </a:r>
                    </a:p>
                  </a:txBody>
                  <a:tcPr/>
                </a:tc>
                <a:tc>
                  <a:txBody>
                    <a:bodyPr/>
                    <a:lstStyle/>
                    <a:p>
                      <a:r>
                        <a:rPr lang="en-US" dirty="0"/>
                        <a:t>No. of Nulls</a:t>
                      </a:r>
                    </a:p>
                  </a:txBody>
                  <a:tcPr/>
                </a:tc>
                <a:extLst>
                  <a:ext uri="{0D108BD9-81ED-4DB2-BD59-A6C34878D82A}">
                    <a16:rowId xmlns:a16="http://schemas.microsoft.com/office/drawing/2014/main" val="188293469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kern="1200" dirty="0" err="1">
                          <a:solidFill>
                            <a:schemeClr val="dk1"/>
                          </a:solidFill>
                          <a:effectLst/>
                          <a:latin typeface="+mn-lt"/>
                          <a:ea typeface="+mn-ea"/>
                          <a:cs typeface="+mn-cs"/>
                        </a:rPr>
                        <a:t>tradeflow_baci</a:t>
                      </a:r>
                      <a:endParaRPr lang="en-GB" sz="1800" b="0" i="0" kern="1200" dirty="0">
                        <a:solidFill>
                          <a:schemeClr val="dk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kern="1200" dirty="0">
                          <a:solidFill>
                            <a:schemeClr val="dk1"/>
                          </a:solidFill>
                          <a:effectLst/>
                          <a:latin typeface="+mn-lt"/>
                          <a:ea typeface="+mn-ea"/>
                          <a:cs typeface="+mn-cs"/>
                        </a:rPr>
                        <a:t>238457</a:t>
                      </a:r>
                    </a:p>
                  </a:txBody>
                  <a:tcPr/>
                </a:tc>
                <a:extLst>
                  <a:ext uri="{0D108BD9-81ED-4DB2-BD59-A6C34878D82A}">
                    <a16:rowId xmlns:a16="http://schemas.microsoft.com/office/drawing/2014/main" val="305685681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kern="1200" dirty="0" err="1">
                          <a:solidFill>
                            <a:schemeClr val="dk1"/>
                          </a:solidFill>
                          <a:effectLst/>
                          <a:latin typeface="+mn-lt"/>
                          <a:ea typeface="+mn-ea"/>
                          <a:cs typeface="+mn-cs"/>
                        </a:rPr>
                        <a:t>gdp_o</a:t>
                      </a:r>
                      <a:endParaRPr lang="en-GB" sz="1800" b="0" i="0" kern="1200" dirty="0">
                        <a:solidFill>
                          <a:schemeClr val="dk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kern="1200" dirty="0">
                          <a:solidFill>
                            <a:schemeClr val="dk1"/>
                          </a:solidFill>
                          <a:effectLst/>
                          <a:latin typeface="+mn-lt"/>
                          <a:ea typeface="+mn-ea"/>
                          <a:cs typeface="+mn-cs"/>
                        </a:rPr>
                        <a:t>91650</a:t>
                      </a:r>
                    </a:p>
                  </a:txBody>
                  <a:tcPr/>
                </a:tc>
                <a:extLst>
                  <a:ext uri="{0D108BD9-81ED-4DB2-BD59-A6C34878D82A}">
                    <a16:rowId xmlns:a16="http://schemas.microsoft.com/office/drawing/2014/main" val="163616297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kern="1200" dirty="0" err="1">
                          <a:solidFill>
                            <a:schemeClr val="dk1"/>
                          </a:solidFill>
                          <a:effectLst/>
                          <a:latin typeface="+mn-lt"/>
                          <a:ea typeface="+mn-ea"/>
                          <a:cs typeface="+mn-cs"/>
                        </a:rPr>
                        <a:t>pop_o</a:t>
                      </a:r>
                      <a:endParaRPr lang="en-GB" sz="1800" b="0" i="0" kern="1200" dirty="0">
                        <a:solidFill>
                          <a:schemeClr val="dk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kern="1200" dirty="0">
                          <a:solidFill>
                            <a:schemeClr val="dk1"/>
                          </a:solidFill>
                          <a:effectLst/>
                          <a:latin typeface="+mn-lt"/>
                          <a:ea typeface="+mn-ea"/>
                          <a:cs typeface="+mn-cs"/>
                        </a:rPr>
                        <a:t>62275</a:t>
                      </a:r>
                    </a:p>
                  </a:txBody>
                  <a:tcPr/>
                </a:tc>
                <a:extLst>
                  <a:ext uri="{0D108BD9-81ED-4DB2-BD59-A6C34878D82A}">
                    <a16:rowId xmlns:a16="http://schemas.microsoft.com/office/drawing/2014/main" val="417913958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kern="1200" dirty="0" err="1">
                          <a:solidFill>
                            <a:schemeClr val="dk1"/>
                          </a:solidFill>
                          <a:effectLst/>
                          <a:latin typeface="+mn-lt"/>
                          <a:ea typeface="+mn-ea"/>
                          <a:cs typeface="+mn-cs"/>
                        </a:rPr>
                        <a:t>distw_harmonic</a:t>
                      </a:r>
                      <a:endParaRPr lang="en-GB" sz="1800" b="0" i="0" kern="1200" dirty="0">
                        <a:solidFill>
                          <a:schemeClr val="dk1"/>
                        </a:solidFill>
                        <a:effectLst/>
                        <a:latin typeface="+mn-lt"/>
                        <a:ea typeface="+mn-ea"/>
                        <a:cs typeface="+mn-cs"/>
                      </a:endParaRPr>
                    </a:p>
                  </a:txBody>
                  <a:tcPr/>
                </a:tc>
                <a:tc>
                  <a:txBody>
                    <a:bodyPr/>
                    <a:lstStyle/>
                    <a:p>
                      <a:r>
                        <a:rPr lang="en-US" dirty="0"/>
                        <a:t>0</a:t>
                      </a:r>
                    </a:p>
                  </a:txBody>
                  <a:tcPr/>
                </a:tc>
                <a:extLst>
                  <a:ext uri="{0D108BD9-81ED-4DB2-BD59-A6C34878D82A}">
                    <a16:rowId xmlns:a16="http://schemas.microsoft.com/office/drawing/2014/main" val="239850036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kern="1200" dirty="0" err="1">
                          <a:solidFill>
                            <a:schemeClr val="dk1"/>
                          </a:solidFill>
                          <a:effectLst/>
                          <a:latin typeface="+mn-lt"/>
                          <a:ea typeface="+mn-ea"/>
                          <a:cs typeface="+mn-cs"/>
                        </a:rPr>
                        <a:t>comlang_off</a:t>
                      </a:r>
                      <a:endParaRPr lang="en-GB" sz="1800" b="0" i="0" kern="1200" dirty="0">
                        <a:solidFill>
                          <a:schemeClr val="dk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kern="1200" dirty="0">
                          <a:solidFill>
                            <a:schemeClr val="dk1"/>
                          </a:solidFill>
                          <a:effectLst/>
                          <a:latin typeface="+mn-lt"/>
                          <a:ea typeface="+mn-ea"/>
                          <a:cs typeface="+mn-cs"/>
                        </a:rPr>
                        <a:t>46000</a:t>
                      </a:r>
                    </a:p>
                  </a:txBody>
                  <a:tcPr/>
                </a:tc>
                <a:extLst>
                  <a:ext uri="{0D108BD9-81ED-4DB2-BD59-A6C34878D82A}">
                    <a16:rowId xmlns:a16="http://schemas.microsoft.com/office/drawing/2014/main" val="578294484"/>
                  </a:ext>
                </a:extLst>
              </a:tr>
            </a:tbl>
          </a:graphicData>
        </a:graphic>
      </p:graphicFrame>
    </p:spTree>
    <p:extLst>
      <p:ext uri="{BB962C8B-B14F-4D97-AF65-F5344CB8AC3E}">
        <p14:creationId xmlns:p14="http://schemas.microsoft.com/office/powerpoint/2010/main" val="5456683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30137-3C78-4A36-0544-3BBC03EEB646}"/>
              </a:ext>
            </a:extLst>
          </p:cNvPr>
          <p:cNvSpPr>
            <a:spLocks noGrp="1"/>
          </p:cNvSpPr>
          <p:nvPr>
            <p:ph type="title"/>
          </p:nvPr>
        </p:nvSpPr>
        <p:spPr/>
        <p:txBody>
          <a:bodyPr/>
          <a:lstStyle/>
          <a:p>
            <a:pPr algn="ctr"/>
            <a:r>
              <a:rPr lang="en-US" dirty="0"/>
              <a:t>Preprocessing</a:t>
            </a:r>
          </a:p>
        </p:txBody>
      </p:sp>
      <p:sp>
        <p:nvSpPr>
          <p:cNvPr id="3" name="Content Placeholder 2">
            <a:extLst>
              <a:ext uri="{FF2B5EF4-FFF2-40B4-BE49-F238E27FC236}">
                <a16:creationId xmlns:a16="http://schemas.microsoft.com/office/drawing/2014/main" id="{26D24481-D4BB-CFE5-6F4A-228810674103}"/>
              </a:ext>
            </a:extLst>
          </p:cNvPr>
          <p:cNvSpPr>
            <a:spLocks noGrp="1"/>
          </p:cNvSpPr>
          <p:nvPr>
            <p:ph idx="1"/>
          </p:nvPr>
        </p:nvSpPr>
        <p:spPr/>
        <p:txBody>
          <a:bodyPr/>
          <a:lstStyle/>
          <a:p>
            <a:pPr marL="0" indent="0">
              <a:buNone/>
            </a:pPr>
            <a:r>
              <a:rPr lang="en-US" sz="2000" dirty="0"/>
              <a:t>As previously mentioned all Null rows were dropped. Another reason for this was that some countries had sporadic data points not enough for imputing.</a:t>
            </a:r>
          </a:p>
        </p:txBody>
      </p:sp>
      <p:pic>
        <p:nvPicPr>
          <p:cNvPr id="4" name="Picture 3">
            <a:extLst>
              <a:ext uri="{FF2B5EF4-FFF2-40B4-BE49-F238E27FC236}">
                <a16:creationId xmlns:a16="http://schemas.microsoft.com/office/drawing/2014/main" id="{015BF452-2CC4-2CFC-2793-0D57C5134523}"/>
              </a:ext>
            </a:extLst>
          </p:cNvPr>
          <p:cNvPicPr>
            <a:picLocks noChangeAspect="1"/>
          </p:cNvPicPr>
          <p:nvPr/>
        </p:nvPicPr>
        <p:blipFill>
          <a:blip r:embed="rId3"/>
          <a:stretch>
            <a:fillRect/>
          </a:stretch>
        </p:blipFill>
        <p:spPr>
          <a:xfrm>
            <a:off x="1636212" y="2598161"/>
            <a:ext cx="8919575" cy="1661677"/>
          </a:xfrm>
          <a:prstGeom prst="rect">
            <a:avLst/>
          </a:prstGeom>
        </p:spPr>
      </p:pic>
      <p:pic>
        <p:nvPicPr>
          <p:cNvPr id="5" name="Picture 4">
            <a:extLst>
              <a:ext uri="{FF2B5EF4-FFF2-40B4-BE49-F238E27FC236}">
                <a16:creationId xmlns:a16="http://schemas.microsoft.com/office/drawing/2014/main" id="{45431E76-DCAD-3039-CC43-8A907C5DECDE}"/>
              </a:ext>
            </a:extLst>
          </p:cNvPr>
          <p:cNvPicPr>
            <a:picLocks noChangeAspect="1"/>
          </p:cNvPicPr>
          <p:nvPr/>
        </p:nvPicPr>
        <p:blipFill>
          <a:blip r:embed="rId4"/>
          <a:stretch>
            <a:fillRect/>
          </a:stretch>
        </p:blipFill>
        <p:spPr>
          <a:xfrm>
            <a:off x="1636212" y="5333396"/>
            <a:ext cx="5289647" cy="978504"/>
          </a:xfrm>
          <a:prstGeom prst="rect">
            <a:avLst/>
          </a:prstGeom>
        </p:spPr>
      </p:pic>
      <p:sp>
        <p:nvSpPr>
          <p:cNvPr id="6" name="TextBox 5">
            <a:extLst>
              <a:ext uri="{FF2B5EF4-FFF2-40B4-BE49-F238E27FC236}">
                <a16:creationId xmlns:a16="http://schemas.microsoft.com/office/drawing/2014/main" id="{5E648DEA-F3B0-9D2D-34A4-20F49BEBA183}"/>
              </a:ext>
            </a:extLst>
          </p:cNvPr>
          <p:cNvSpPr txBox="1"/>
          <p:nvPr/>
        </p:nvSpPr>
        <p:spPr>
          <a:xfrm>
            <a:off x="838200" y="4687065"/>
            <a:ext cx="10515600" cy="646331"/>
          </a:xfrm>
          <a:prstGeom prst="rect">
            <a:avLst/>
          </a:prstGeom>
          <a:noFill/>
        </p:spPr>
        <p:txBody>
          <a:bodyPr wrap="square" rtlCol="0">
            <a:spAutoFit/>
          </a:bodyPr>
          <a:lstStyle/>
          <a:p>
            <a:r>
              <a:rPr lang="en-US" dirty="0"/>
              <a:t>Standard Scaler was used for the Machine Learning Pipelines to transform all variables into a common scale.</a:t>
            </a:r>
          </a:p>
        </p:txBody>
      </p:sp>
    </p:spTree>
    <p:extLst>
      <p:ext uri="{BB962C8B-B14F-4D97-AF65-F5344CB8AC3E}">
        <p14:creationId xmlns:p14="http://schemas.microsoft.com/office/powerpoint/2010/main" val="19083702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A2B5B-F13A-1B9C-E908-5874029A93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4A20A4-9AC0-A8E9-EAE0-E3183600F73E}"/>
              </a:ext>
            </a:extLst>
          </p:cNvPr>
          <p:cNvSpPr>
            <a:spLocks noGrp="1"/>
          </p:cNvSpPr>
          <p:nvPr>
            <p:ph type="title"/>
          </p:nvPr>
        </p:nvSpPr>
        <p:spPr/>
        <p:txBody>
          <a:bodyPr/>
          <a:lstStyle/>
          <a:p>
            <a:pPr algn="ctr"/>
            <a:r>
              <a:rPr lang="en-US" dirty="0"/>
              <a:t>Modelling </a:t>
            </a:r>
          </a:p>
        </p:txBody>
      </p:sp>
      <p:sp>
        <p:nvSpPr>
          <p:cNvPr id="3" name="Content Placeholder 2">
            <a:extLst>
              <a:ext uri="{FF2B5EF4-FFF2-40B4-BE49-F238E27FC236}">
                <a16:creationId xmlns:a16="http://schemas.microsoft.com/office/drawing/2014/main" id="{4A40195E-085F-8A0F-3B35-2E37BE1DB32F}"/>
              </a:ext>
            </a:extLst>
          </p:cNvPr>
          <p:cNvSpPr>
            <a:spLocks noGrp="1"/>
          </p:cNvSpPr>
          <p:nvPr>
            <p:ph idx="1"/>
          </p:nvPr>
        </p:nvSpPr>
        <p:spPr>
          <a:xfrm>
            <a:off x="838200" y="1825625"/>
            <a:ext cx="5449866" cy="4351338"/>
          </a:xfrm>
        </p:spPr>
        <p:txBody>
          <a:bodyPr>
            <a:normAutofit/>
          </a:bodyPr>
          <a:lstStyle/>
          <a:p>
            <a:pPr marL="0" indent="0">
              <a:buNone/>
            </a:pPr>
            <a:r>
              <a:rPr lang="en-US" sz="2000" dirty="0"/>
              <a:t>I chose 4 baseline models for regression with k-fold of 5. And evaluated with RMSE scores.</a:t>
            </a:r>
          </a:p>
          <a:p>
            <a:pPr marL="0" indent="0">
              <a:buNone/>
            </a:pPr>
            <a:r>
              <a:rPr lang="en-US" sz="2000" dirty="0"/>
              <a:t>These were:</a:t>
            </a:r>
          </a:p>
          <a:p>
            <a:r>
              <a:rPr lang="en-US" sz="2000" dirty="0"/>
              <a:t>Linear Regression – RMSE: 14.49</a:t>
            </a:r>
          </a:p>
          <a:p>
            <a:r>
              <a:rPr lang="en-US" sz="2000" dirty="0" err="1"/>
              <a:t>ElasticNet</a:t>
            </a:r>
            <a:r>
              <a:rPr lang="en-US" sz="2000" dirty="0"/>
              <a:t> – RMSE: 16.80</a:t>
            </a:r>
          </a:p>
          <a:p>
            <a:r>
              <a:rPr lang="en-US" sz="2000" dirty="0"/>
              <a:t>Random Forest – RMSE: 5.78</a:t>
            </a:r>
          </a:p>
          <a:p>
            <a:r>
              <a:rPr lang="en-US" sz="2000" dirty="0"/>
              <a:t>Gradient Boost. – RMSE: 11.05</a:t>
            </a:r>
          </a:p>
          <a:p>
            <a:endParaRPr lang="en-US" sz="2000" dirty="0"/>
          </a:p>
          <a:p>
            <a:endParaRPr lang="en-US" sz="2000" dirty="0"/>
          </a:p>
          <a:p>
            <a:pPr marL="0" indent="0">
              <a:buNone/>
            </a:pPr>
            <a:r>
              <a:rPr lang="en-US" sz="2000" dirty="0"/>
              <a:t>From this plot I hyperparameter tuned Linear Regression and Random Forrest models.</a:t>
            </a:r>
          </a:p>
        </p:txBody>
      </p:sp>
      <p:pic>
        <p:nvPicPr>
          <p:cNvPr id="4" name="Picture 3">
            <a:extLst>
              <a:ext uri="{FF2B5EF4-FFF2-40B4-BE49-F238E27FC236}">
                <a16:creationId xmlns:a16="http://schemas.microsoft.com/office/drawing/2014/main" id="{4115E9EF-5871-1611-A3B9-617687995B15}"/>
              </a:ext>
            </a:extLst>
          </p:cNvPr>
          <p:cNvPicPr>
            <a:picLocks noChangeAspect="1"/>
          </p:cNvPicPr>
          <p:nvPr/>
        </p:nvPicPr>
        <p:blipFill>
          <a:blip r:embed="rId3"/>
          <a:stretch>
            <a:fillRect/>
          </a:stretch>
        </p:blipFill>
        <p:spPr>
          <a:xfrm>
            <a:off x="6288066" y="1690687"/>
            <a:ext cx="4324516" cy="4486275"/>
          </a:xfrm>
          <a:prstGeom prst="rect">
            <a:avLst/>
          </a:prstGeom>
        </p:spPr>
      </p:pic>
    </p:spTree>
    <p:extLst>
      <p:ext uri="{BB962C8B-B14F-4D97-AF65-F5344CB8AC3E}">
        <p14:creationId xmlns:p14="http://schemas.microsoft.com/office/powerpoint/2010/main" val="11428541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340A3-6A80-E2D7-D4C5-F24F1E0351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2811C5-1311-845A-891C-F3075D241F6D}"/>
              </a:ext>
            </a:extLst>
          </p:cNvPr>
          <p:cNvSpPr>
            <a:spLocks noGrp="1"/>
          </p:cNvSpPr>
          <p:nvPr>
            <p:ph type="title"/>
          </p:nvPr>
        </p:nvSpPr>
        <p:spPr/>
        <p:txBody>
          <a:bodyPr/>
          <a:lstStyle/>
          <a:p>
            <a:pPr algn="ctr"/>
            <a:r>
              <a:rPr lang="en-US" dirty="0"/>
              <a:t>Linear Regression</a:t>
            </a:r>
          </a:p>
        </p:txBody>
      </p:sp>
      <p:sp>
        <p:nvSpPr>
          <p:cNvPr id="3" name="Content Placeholder 2">
            <a:extLst>
              <a:ext uri="{FF2B5EF4-FFF2-40B4-BE49-F238E27FC236}">
                <a16:creationId xmlns:a16="http://schemas.microsoft.com/office/drawing/2014/main" id="{31AB678A-978D-4B56-B566-37F362D8B05E}"/>
              </a:ext>
            </a:extLst>
          </p:cNvPr>
          <p:cNvSpPr>
            <a:spLocks noGrp="1"/>
          </p:cNvSpPr>
          <p:nvPr>
            <p:ph idx="1"/>
          </p:nvPr>
        </p:nvSpPr>
        <p:spPr>
          <a:xfrm>
            <a:off x="838200" y="1825625"/>
            <a:ext cx="10515600" cy="779789"/>
          </a:xfrm>
        </p:spPr>
        <p:txBody>
          <a:bodyPr>
            <a:normAutofit/>
          </a:bodyPr>
          <a:lstStyle/>
          <a:p>
            <a:pPr marL="0" indent="0">
              <a:buNone/>
            </a:pPr>
            <a:r>
              <a:rPr lang="en-US" sz="2000" dirty="0"/>
              <a:t>Hyperparameter tuning didn’t increase accuracy. This may because of a small option of search params resulting in the default arguments being optimal.</a:t>
            </a:r>
          </a:p>
        </p:txBody>
      </p:sp>
      <p:pic>
        <p:nvPicPr>
          <p:cNvPr id="4" name="Picture 3">
            <a:extLst>
              <a:ext uri="{FF2B5EF4-FFF2-40B4-BE49-F238E27FC236}">
                <a16:creationId xmlns:a16="http://schemas.microsoft.com/office/drawing/2014/main" id="{466CFB98-90A1-665C-4D3D-F38317F32BAE}"/>
              </a:ext>
            </a:extLst>
          </p:cNvPr>
          <p:cNvPicPr>
            <a:picLocks noChangeAspect="1"/>
          </p:cNvPicPr>
          <p:nvPr/>
        </p:nvPicPr>
        <p:blipFill>
          <a:blip r:embed="rId3"/>
          <a:stretch>
            <a:fillRect/>
          </a:stretch>
        </p:blipFill>
        <p:spPr>
          <a:xfrm>
            <a:off x="838199" y="2957188"/>
            <a:ext cx="3159357" cy="2590798"/>
          </a:xfrm>
          <a:prstGeom prst="rect">
            <a:avLst/>
          </a:prstGeom>
        </p:spPr>
      </p:pic>
      <p:pic>
        <p:nvPicPr>
          <p:cNvPr id="5" name="Picture 4">
            <a:extLst>
              <a:ext uri="{FF2B5EF4-FFF2-40B4-BE49-F238E27FC236}">
                <a16:creationId xmlns:a16="http://schemas.microsoft.com/office/drawing/2014/main" id="{A8FD0B98-E764-7221-9FE5-34871075BB1D}"/>
              </a:ext>
            </a:extLst>
          </p:cNvPr>
          <p:cNvPicPr>
            <a:picLocks noChangeAspect="1"/>
          </p:cNvPicPr>
          <p:nvPr/>
        </p:nvPicPr>
        <p:blipFill>
          <a:blip r:embed="rId4"/>
          <a:stretch>
            <a:fillRect/>
          </a:stretch>
        </p:blipFill>
        <p:spPr>
          <a:xfrm>
            <a:off x="4005284" y="2957187"/>
            <a:ext cx="4006579" cy="2590799"/>
          </a:xfrm>
          <a:prstGeom prst="rect">
            <a:avLst/>
          </a:prstGeom>
        </p:spPr>
      </p:pic>
      <p:pic>
        <p:nvPicPr>
          <p:cNvPr id="6" name="Picture 5">
            <a:extLst>
              <a:ext uri="{FF2B5EF4-FFF2-40B4-BE49-F238E27FC236}">
                <a16:creationId xmlns:a16="http://schemas.microsoft.com/office/drawing/2014/main" id="{0FE44FB2-6BCB-DAF5-F005-43784FBEEF9A}"/>
              </a:ext>
            </a:extLst>
          </p:cNvPr>
          <p:cNvPicPr>
            <a:picLocks noChangeAspect="1"/>
          </p:cNvPicPr>
          <p:nvPr/>
        </p:nvPicPr>
        <p:blipFill>
          <a:blip r:embed="rId5"/>
          <a:stretch>
            <a:fillRect/>
          </a:stretch>
        </p:blipFill>
        <p:spPr>
          <a:xfrm>
            <a:off x="8087804" y="2957186"/>
            <a:ext cx="3159357" cy="2590800"/>
          </a:xfrm>
          <a:prstGeom prst="rect">
            <a:avLst/>
          </a:prstGeom>
        </p:spPr>
      </p:pic>
    </p:spTree>
    <p:extLst>
      <p:ext uri="{BB962C8B-B14F-4D97-AF65-F5344CB8AC3E}">
        <p14:creationId xmlns:p14="http://schemas.microsoft.com/office/powerpoint/2010/main" val="1684006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4C835-A0C1-A8F1-D90C-47EA92156F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E036A2-762E-0B71-C0AA-84A880E6BCB1}"/>
              </a:ext>
            </a:extLst>
          </p:cNvPr>
          <p:cNvSpPr>
            <a:spLocks noGrp="1"/>
          </p:cNvSpPr>
          <p:nvPr>
            <p:ph type="title"/>
          </p:nvPr>
        </p:nvSpPr>
        <p:spPr/>
        <p:txBody>
          <a:bodyPr/>
          <a:lstStyle/>
          <a:p>
            <a:pPr algn="ctr"/>
            <a:r>
              <a:rPr lang="en-US" dirty="0"/>
              <a:t>Random Forest</a:t>
            </a:r>
          </a:p>
        </p:txBody>
      </p:sp>
      <p:sp>
        <p:nvSpPr>
          <p:cNvPr id="3" name="Content Placeholder 2">
            <a:extLst>
              <a:ext uri="{FF2B5EF4-FFF2-40B4-BE49-F238E27FC236}">
                <a16:creationId xmlns:a16="http://schemas.microsoft.com/office/drawing/2014/main" id="{02B30A2C-8544-96BC-526F-51DFA8EDCAA2}"/>
              </a:ext>
            </a:extLst>
          </p:cNvPr>
          <p:cNvSpPr>
            <a:spLocks noGrp="1"/>
          </p:cNvSpPr>
          <p:nvPr>
            <p:ph idx="1"/>
          </p:nvPr>
        </p:nvSpPr>
        <p:spPr>
          <a:xfrm>
            <a:off x="838200" y="1981199"/>
            <a:ext cx="10515600" cy="597623"/>
          </a:xfrm>
        </p:spPr>
        <p:txBody>
          <a:bodyPr>
            <a:normAutofit/>
          </a:bodyPr>
          <a:lstStyle/>
          <a:p>
            <a:pPr marL="0" indent="0">
              <a:buNone/>
            </a:pPr>
            <a:r>
              <a:rPr lang="en-US" sz="2000" dirty="0"/>
              <a:t>A limited grid resulted in no accuracy gains from tuning this model.</a:t>
            </a:r>
          </a:p>
        </p:txBody>
      </p:sp>
      <p:pic>
        <p:nvPicPr>
          <p:cNvPr id="1026" name="Picture 2">
            <a:extLst>
              <a:ext uri="{FF2B5EF4-FFF2-40B4-BE49-F238E27FC236}">
                <a16:creationId xmlns:a16="http://schemas.microsoft.com/office/drawing/2014/main" id="{7610DF08-EAA3-311F-4CAC-BD8AB77B4C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2727" y="2578822"/>
            <a:ext cx="9868640" cy="284494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CFF564A-9DBC-04DE-6E0C-911F9FBD8D2F}"/>
              </a:ext>
            </a:extLst>
          </p:cNvPr>
          <p:cNvSpPr txBox="1"/>
          <p:nvPr/>
        </p:nvSpPr>
        <p:spPr>
          <a:xfrm>
            <a:off x="825674" y="5636712"/>
            <a:ext cx="9433142" cy="923330"/>
          </a:xfrm>
          <a:prstGeom prst="rect">
            <a:avLst/>
          </a:prstGeom>
          <a:noFill/>
        </p:spPr>
        <p:txBody>
          <a:bodyPr wrap="square" rtlCol="0">
            <a:spAutoFit/>
          </a:bodyPr>
          <a:lstStyle/>
          <a:p>
            <a:r>
              <a:rPr lang="en-US" dirty="0"/>
              <a:t>The learning curve plot also show us that this model requires a lot of data. Adding more years or imputing NULL values would help this model’s accuracy to a degree. Overall still very accurate.</a:t>
            </a:r>
          </a:p>
        </p:txBody>
      </p:sp>
    </p:spTree>
    <p:extLst>
      <p:ext uri="{BB962C8B-B14F-4D97-AF65-F5344CB8AC3E}">
        <p14:creationId xmlns:p14="http://schemas.microsoft.com/office/powerpoint/2010/main" val="31668992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1824A-01F7-A825-48AD-81DE216850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FEFF83-3183-113D-7200-35D2477DEF20}"/>
              </a:ext>
            </a:extLst>
          </p:cNvPr>
          <p:cNvSpPr>
            <a:spLocks noGrp="1"/>
          </p:cNvSpPr>
          <p:nvPr>
            <p:ph type="title"/>
          </p:nvPr>
        </p:nvSpPr>
        <p:spPr/>
        <p:txBody>
          <a:bodyPr/>
          <a:lstStyle/>
          <a:p>
            <a:pPr algn="ctr"/>
            <a:r>
              <a:rPr lang="en-US" dirty="0"/>
              <a:t>Improvements</a:t>
            </a:r>
          </a:p>
        </p:txBody>
      </p:sp>
      <p:sp>
        <p:nvSpPr>
          <p:cNvPr id="3" name="Content Placeholder 2">
            <a:extLst>
              <a:ext uri="{FF2B5EF4-FFF2-40B4-BE49-F238E27FC236}">
                <a16:creationId xmlns:a16="http://schemas.microsoft.com/office/drawing/2014/main" id="{2C037D4E-BD9F-9606-B684-866EA19BF79E}"/>
              </a:ext>
            </a:extLst>
          </p:cNvPr>
          <p:cNvSpPr>
            <a:spLocks noGrp="1"/>
          </p:cNvSpPr>
          <p:nvPr>
            <p:ph idx="1"/>
          </p:nvPr>
        </p:nvSpPr>
        <p:spPr/>
        <p:txBody>
          <a:bodyPr/>
          <a:lstStyle/>
          <a:p>
            <a:pPr marL="514350" indent="-514350">
              <a:buFont typeface="+mj-lt"/>
              <a:buAutoNum type="arabicPeriod"/>
            </a:pPr>
            <a:r>
              <a:rPr lang="en-US" dirty="0"/>
              <a:t>Use more data:</a:t>
            </a:r>
          </a:p>
          <a:p>
            <a:pPr lvl="1"/>
            <a:r>
              <a:rPr lang="en-US" dirty="0"/>
              <a:t>More years of data</a:t>
            </a:r>
          </a:p>
          <a:p>
            <a:pPr lvl="1"/>
            <a:r>
              <a:rPr lang="en-US" dirty="0"/>
              <a:t>Impute NULLs using KNN</a:t>
            </a:r>
          </a:p>
          <a:p>
            <a:pPr marL="514350" indent="-514350">
              <a:buFont typeface="+mj-lt"/>
              <a:buAutoNum type="arabicPeriod"/>
            </a:pPr>
            <a:r>
              <a:rPr lang="en-US" dirty="0"/>
              <a:t>Experiment with more Models:</a:t>
            </a:r>
          </a:p>
          <a:p>
            <a:pPr lvl="1"/>
            <a:r>
              <a:rPr lang="en-US" dirty="0"/>
              <a:t>Ridge/Lasso</a:t>
            </a:r>
          </a:p>
          <a:p>
            <a:pPr lvl="1"/>
            <a:r>
              <a:rPr lang="en-US" dirty="0" err="1"/>
              <a:t>XGBoost</a:t>
            </a:r>
            <a:endParaRPr lang="en-US" dirty="0"/>
          </a:p>
          <a:p>
            <a:pPr marL="514350" indent="-514350">
              <a:buFont typeface="+mj-lt"/>
              <a:buAutoNum type="arabicPeriod"/>
            </a:pPr>
            <a:r>
              <a:rPr lang="en-US" dirty="0"/>
              <a:t>Increase </a:t>
            </a:r>
            <a:r>
              <a:rPr lang="en-US" dirty="0" err="1"/>
              <a:t>GridSearch</a:t>
            </a:r>
            <a:r>
              <a:rPr lang="en-US" dirty="0"/>
              <a:t> parameters</a:t>
            </a:r>
          </a:p>
          <a:p>
            <a:pPr marL="514350" indent="-514350">
              <a:buFont typeface="+mj-lt"/>
              <a:buAutoNum type="arabicPeriod"/>
            </a:pPr>
            <a:endParaRPr lang="en-US" dirty="0"/>
          </a:p>
          <a:p>
            <a:pPr marL="0" indent="0">
              <a:buNone/>
            </a:pPr>
            <a:r>
              <a:rPr lang="en-US" dirty="0"/>
              <a:t>Look into rephrasing the question as looking into Causal Inference*</a:t>
            </a:r>
          </a:p>
        </p:txBody>
      </p:sp>
    </p:spTree>
    <p:extLst>
      <p:ext uri="{BB962C8B-B14F-4D97-AF65-F5344CB8AC3E}">
        <p14:creationId xmlns:p14="http://schemas.microsoft.com/office/powerpoint/2010/main" val="36328623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F746A-B2C5-D3C9-8972-E15413BD68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1DC654-67D2-9B80-D09A-676651674BA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1F8FB28-BA52-000A-CFA1-4B7FF9B65F4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3871362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c1c05e37-788c-4c59-b50e-5c98323c0a70}" enabled="1" method="Privileged" siteId="{8fa217ec-33aa-46fb-ad96-dfe68006bb86}" removed="0"/>
</clbl:labelList>
</file>

<file path=docProps/app.xml><?xml version="1.0" encoding="utf-8"?>
<Properties xmlns="http://schemas.openxmlformats.org/officeDocument/2006/extended-properties" xmlns:vt="http://schemas.openxmlformats.org/officeDocument/2006/docPropsVTypes">
  <Template>Parcel</Template>
  <TotalTime>458</TotalTime>
  <Words>1637</Words>
  <Application>Microsoft Macintosh PowerPoint</Application>
  <PresentationFormat>Widescreen</PresentationFormat>
  <Paragraphs>129</Paragraphs>
  <Slides>15</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Aptos Display</vt:lpstr>
      <vt:lpstr>Arial</vt:lpstr>
      <vt:lpstr>Office Theme</vt:lpstr>
      <vt:lpstr>PowerPoint Presentation</vt:lpstr>
      <vt:lpstr>    Business Question</vt:lpstr>
      <vt:lpstr>The CEPII Gravity Dataset</vt:lpstr>
      <vt:lpstr>EDA – Independent Variables</vt:lpstr>
      <vt:lpstr>EDA – Independent Variables</vt:lpstr>
      <vt:lpstr>EDA – Dependent Variable</vt:lpstr>
      <vt:lpstr>EDA – Dependent Variable</vt:lpstr>
      <vt:lpstr>EDA – All Variables</vt:lpstr>
      <vt:lpstr>Null Values</vt:lpstr>
      <vt:lpstr>Preprocessing</vt:lpstr>
      <vt:lpstr>Modelling </vt:lpstr>
      <vt:lpstr>Linear Regression</vt:lpstr>
      <vt:lpstr>Random Forest</vt:lpstr>
      <vt:lpstr>Improvements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 COLES (DBT)</dc:creator>
  <cp:lastModifiedBy>Daniel COLES (DBT)</cp:lastModifiedBy>
  <cp:revision>2</cp:revision>
  <dcterms:created xsi:type="dcterms:W3CDTF">2026-05-01T07:20:16Z</dcterms:created>
  <dcterms:modified xsi:type="dcterms:W3CDTF">2026-05-04T12:35:59Z</dcterms:modified>
</cp:coreProperties>
</file>